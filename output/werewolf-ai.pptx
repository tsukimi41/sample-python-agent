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AB7D60-E40D-4C75-9D9D-0AF9CCAD7C7F}" type="datetimeFigureOut">
              <a:rPr kumimoji="1" lang="ja-JP" altLang="en-US" smtClean="0"/>
              <a:t>2026/9/16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2895A6-8E05-4A74-91FA-ECC675CA0A01}" type="slidenum">
              <a:rPr kumimoji="1" lang="ja-JP" altLang="en-US" smtClean="0"/>
              <a:t>‹#›</a:t>
            </a:fld>
            <a:endParaRPr kumimoji="1" lang="ja-JP" altLang="en-US"/>
          </a:p>
        </p:txBody>
      </p:sp>
    </p:spTree>
    <p:extLst>
      <p:ext uri="{BB962C8B-B14F-4D97-AF65-F5344CB8AC3E}">
        <p14:creationId xmlns:p14="http://schemas.microsoft.com/office/powerpoint/2010/main" val="266001458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【25</a:t>
            </a:r>
            <a:r>
              <a:rPr kumimoji="1" lang="ja-JP" altLang="en-US"/>
              <a:t>秒</a:t>
            </a:r>
            <a:r>
              <a:rPr kumimoji="1" lang="en-US" altLang="ja-JP"/>
              <a:t>】</a:t>
            </a:r>
            <a:r>
              <a:rPr kumimoji="1" lang="ja-JP" altLang="en-US"/>
              <a:t>人狼では、誰が嘘をついているかを推定するだけでなく、他者に理由を伝え、多数決につなぐ必要があります。そこで、どの観測と規則から判断したかを追える役職推定器を実装しました。対象は</a:t>
            </a:r>
            <a:r>
              <a:rPr kumimoji="1" lang="en-US" altLang="ja-JP"/>
              <a:t>5</a:t>
            </a:r>
            <a:r>
              <a:rPr kumimoji="1" lang="ja-JP" altLang="en-US"/>
              <a:t>人村です。確率を判断に使いつつ、説明には根拠と代替仮説を残すことが中心課題です。
出典</a:t>
            </a:r>
            <a:r>
              <a:rPr kumimoji="1" lang="en-US" altLang="ja-JP"/>
              <a:t>: docs/vision-and-principles.md</a:t>
            </a:r>
            <a:r>
              <a:rPr kumimoji="1" lang="ja-JP" altLang="en-US"/>
              <a:t>、</a:t>
            </a:r>
            <a:r>
              <a:rPr kumimoji="1" lang="en-US" altLang="ja-JP"/>
              <a:t>docs/requirements-explainable-role-estimator.md</a:t>
            </a:r>
            <a:endParaRPr kumimoji="1" lang="ja-JP" altLang="en-US"/>
          </a:p>
        </p:txBody>
      </p:sp>
      <p:sp>
        <p:nvSpPr>
          <p:cNvPr id="4" name="スライド番号プレースホルダー 3"/>
          <p:cNvSpPr>
            <a:spLocks noGrp="1"/>
          </p:cNvSpPr>
          <p:nvPr>
            <p:ph type="sldNum" sz="quarter" idx="5"/>
          </p:nvPr>
        </p:nvSpPr>
        <p:spPr/>
        <p:txBody>
          <a:bodyPr/>
          <a:lstStyle/>
          <a:p>
            <a:fld id="{7F2895A6-8E05-4A74-91FA-ECC675CA0A01}" type="slidenum">
              <a:rPr kumimoji="1" lang="ja-JP" altLang="en-US" smtClean="0"/>
              <a:t>1</a:t>
            </a:fld>
            <a:endParaRPr kumimoji="1" lang="ja-JP" altLang="en-US"/>
          </a:p>
        </p:txBody>
      </p:sp>
    </p:spTree>
    <p:extLst>
      <p:ext uri="{BB962C8B-B14F-4D97-AF65-F5344CB8AC3E}">
        <p14:creationId xmlns:p14="http://schemas.microsoft.com/office/powerpoint/2010/main" val="1259593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【35</a:t>
            </a:r>
            <a:r>
              <a:rPr kumimoji="1" lang="ja-JP" altLang="en-US"/>
              <a:t>秒</a:t>
            </a:r>
            <a:r>
              <a:rPr kumimoji="1" lang="en-US" altLang="ja-JP"/>
              <a:t>】2020</a:t>
            </a:r>
            <a:r>
              <a:rPr kumimoji="1" lang="ja-JP" altLang="en-US"/>
              <a:t>年の研究では、人狼の推定精度が</a:t>
            </a:r>
            <a:r>
              <a:rPr kumimoji="1" lang="en-US" altLang="ja-JP"/>
              <a:t>71.1</a:t>
            </a:r>
            <a:r>
              <a:rPr kumimoji="1" lang="ja-JP" altLang="en-US"/>
              <a:t>から</a:t>
            </a:r>
            <a:r>
              <a:rPr kumimoji="1" lang="en-US" altLang="ja-JP"/>
              <a:t>72.3</a:t>
            </a:r>
            <a:r>
              <a:rPr kumimoji="1" lang="ja-JP" altLang="en-US"/>
              <a:t>パーセントに向上しても、提案エージェントの勝率は</a:t>
            </a:r>
            <a:r>
              <a:rPr kumimoji="1" lang="en-US" altLang="ja-JP"/>
              <a:t>46.7</a:t>
            </a:r>
            <a:r>
              <a:rPr kumimoji="1" lang="ja-JP" altLang="en-US"/>
              <a:t>から</a:t>
            </a:r>
            <a:r>
              <a:rPr kumimoji="1" lang="en-US" altLang="ja-JP"/>
              <a:t>45.3</a:t>
            </a:r>
            <a:r>
              <a:rPr kumimoji="1" lang="ja-JP" altLang="en-US"/>
              <a:t>パーセントへ下がりました。この比較だけで因果関係は言えませんが、推定と戦略を別々に評価する必要があります。</a:t>
            </a:r>
            <a:r>
              <a:rPr kumimoji="1" lang="en-US" altLang="ja-JP"/>
              <a:t>2024</a:t>
            </a:r>
            <a:r>
              <a:rPr kumimoji="1" lang="ja-JP" altLang="en-US"/>
              <a:t>年には不確実な信念を</a:t>
            </a:r>
            <a:r>
              <a:rPr kumimoji="1" lang="en-US" altLang="ja-JP"/>
              <a:t>BDI</a:t>
            </a:r>
            <a:r>
              <a:rPr kumimoji="1" lang="ja-JP" altLang="en-US"/>
              <a:t>論理と可能世界で扱う研究もあります。今回はその方向を参考に、完全な</a:t>
            </a:r>
            <a:r>
              <a:rPr kumimoji="1" lang="en-US" altLang="ja-JP"/>
              <a:t>BDI</a:t>
            </a:r>
            <a:r>
              <a:rPr kumimoji="1" lang="ja-JP" altLang="en-US"/>
              <a:t>実装ではなく、共同役職分布と説明の基盤に絞りました。
一次資料</a:t>
            </a:r>
            <a:r>
              <a:rPr kumimoji="1" lang="en-US" altLang="ja-JP"/>
              <a:t>: </a:t>
            </a:r>
            <a:r>
              <a:rPr kumimoji="1" lang="ja-JP" altLang="en-US"/>
              <a:t>早稲田凌亮・中原航大・渕田孝康 </a:t>
            </a:r>
            <a:r>
              <a:rPr kumimoji="1" lang="en-US" altLang="ja-JP"/>
              <a:t>(2020)</a:t>
            </a:r>
            <a:r>
              <a:rPr kumimoji="1" lang="ja-JP" altLang="en-US"/>
              <a:t>「深層学習による役職推定を用いた人狼知能エージェントの研究」表</a:t>
            </a:r>
            <a:r>
              <a:rPr kumimoji="1" lang="en-US" altLang="ja-JP"/>
              <a:t>2</a:t>
            </a:r>
            <a:r>
              <a:rPr kumimoji="1" lang="ja-JP" altLang="en-US"/>
              <a:t>・表</a:t>
            </a:r>
            <a:r>
              <a:rPr kumimoji="1" lang="en-US" altLang="ja-JP"/>
              <a:t>3</a:t>
            </a:r>
            <a:r>
              <a:rPr kumimoji="1" lang="ja-JP" altLang="en-US"/>
              <a:t>。</a:t>
            </a:r>
            <a:r>
              <a:rPr kumimoji="1" lang="en-US" altLang="ja-JP"/>
              <a:t>https://www.jstage.jst.go.jp/article/jceeek/2020/0/2020_228/_pdf/-char/ja
</a:t>
            </a:r>
            <a:r>
              <a:rPr kumimoji="1" lang="ja-JP" altLang="en-US"/>
              <a:t>一次資料</a:t>
            </a:r>
            <a:r>
              <a:rPr kumimoji="1" lang="en-US" altLang="ja-JP"/>
              <a:t>: Takada and Toda (2024), https://www.jstage.jst.go.jp/article/pjsai/JSAI2024/0/JSAI2024_4Xin285/_article/-char/ja/
</a:t>
            </a:r>
            <a:r>
              <a:rPr kumimoji="1" lang="ja-JP" altLang="en-US"/>
              <a:t>背景</a:t>
            </a:r>
            <a:r>
              <a:rPr kumimoji="1" lang="en-US" altLang="ja-JP"/>
              <a:t>: </a:t>
            </a:r>
            <a:r>
              <a:rPr kumimoji="1" lang="ja-JP" altLang="en-US"/>
              <a:t>片上ほか </a:t>
            </a:r>
            <a:r>
              <a:rPr kumimoji="1" lang="en-US" altLang="ja-JP"/>
              <a:t>(2018)</a:t>
            </a:r>
            <a:r>
              <a:rPr kumimoji="1" lang="ja-JP" altLang="en-US"/>
              <a:t>「人狼知能研究のすすめ」</a:t>
            </a:r>
            <a:r>
              <a:rPr kumimoji="1" lang="en-US" altLang="ja-JP"/>
              <a:t>https://www.jstage.jst.go.jp/article/jsoft/30/5/30_236/_article/-char/ja/</a:t>
            </a:r>
            <a:endParaRPr kumimoji="1" lang="ja-JP" altLang="en-US"/>
          </a:p>
        </p:txBody>
      </p:sp>
      <p:sp>
        <p:nvSpPr>
          <p:cNvPr id="4" name="スライド番号プレースホルダー 3"/>
          <p:cNvSpPr>
            <a:spLocks noGrp="1"/>
          </p:cNvSpPr>
          <p:nvPr>
            <p:ph type="sldNum" sz="quarter" idx="5"/>
          </p:nvPr>
        </p:nvSpPr>
        <p:spPr/>
        <p:txBody>
          <a:bodyPr/>
          <a:lstStyle/>
          <a:p>
            <a:fld id="{7F2895A6-8E05-4A74-91FA-ECC675CA0A01}" type="slidenum">
              <a:rPr kumimoji="1" lang="ja-JP" altLang="en-US" smtClean="0"/>
              <a:t>2</a:t>
            </a:fld>
            <a:endParaRPr kumimoji="1" lang="ja-JP" altLang="en-US"/>
          </a:p>
        </p:txBody>
      </p:sp>
    </p:spTree>
    <p:extLst>
      <p:ext uri="{BB962C8B-B14F-4D97-AF65-F5344CB8AC3E}">
        <p14:creationId xmlns:p14="http://schemas.microsoft.com/office/powerpoint/2010/main" val="2782365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【45</a:t>
            </a:r>
            <a:r>
              <a:rPr kumimoji="1" lang="ja-JP" altLang="en-US"/>
              <a:t>秒</a:t>
            </a:r>
            <a:r>
              <a:rPr kumimoji="1" lang="en-US" altLang="ja-JP"/>
              <a:t>】</a:t>
            </a:r>
            <a:r>
              <a:rPr kumimoji="1" lang="ja-JP" altLang="en-US"/>
              <a:t>独立に各人の人狼確率を出すと、人数の制約が崩れます。今回は村人の自己視点で</a:t>
            </a:r>
            <a:r>
              <a:rPr kumimoji="1" lang="en-US" altLang="ja-JP"/>
              <a:t>24</a:t>
            </a:r>
            <a:r>
              <a:rPr kumimoji="1" lang="ja-JP" altLang="en-US"/>
              <a:t>通り、公開視点で</a:t>
            </a:r>
            <a:r>
              <a:rPr kumimoji="1" lang="en-US" altLang="ja-JP"/>
              <a:t>60</a:t>
            </a:r>
            <a:r>
              <a:rPr kumimoji="1" lang="ja-JP" altLang="en-US"/>
              <a:t>通りの役職割当てを列挙し、その重みから確率を求めます。自分の占い結果は矛盾する世界を除外しますが、他者の占い報告は嘘の可能性を残して重みだけ変えます。更新は対数空間で行い、全員の人狼確率の合計を</a:t>
            </a:r>
            <a:r>
              <a:rPr kumimoji="1" lang="en-US" altLang="ja-JP"/>
              <a:t>1</a:t>
            </a:r>
            <a:r>
              <a:rPr kumimoji="1" lang="ja-JP" altLang="en-US"/>
              <a:t>に保ちます。生存候補の得点を比較し、同点は固定順で投票を決めます。
実装</a:t>
            </a:r>
            <a:r>
              <a:rPr kumimoji="1" lang="en-US" altLang="ja-JP"/>
              <a:t>: belief_model.py / ExplainableRoleEstimator</a:t>
            </a:r>
            <a:r>
              <a:rPr kumimoji="1" lang="ja-JP" altLang="en-US"/>
              <a:t>、</a:t>
            </a:r>
            <a:r>
              <a:rPr kumimoji="1" lang="en-US" altLang="ja-JP"/>
              <a:t>TransparentLikelihoodModel
24 = 4!</a:t>
            </a:r>
            <a:r>
              <a:rPr kumimoji="1" lang="ja-JP" altLang="en-US"/>
              <a:t>、</a:t>
            </a:r>
            <a:r>
              <a:rPr kumimoji="1" lang="en-US" altLang="ja-JP"/>
              <a:t>60 = 5!/2!</a:t>
            </a:r>
            <a:r>
              <a:rPr kumimoji="1" lang="ja-JP" altLang="en-US"/>
              <a:t>。自己が村人の場合。占い師の自己視点は</a:t>
            </a:r>
            <a:r>
              <a:rPr kumimoji="1" lang="en-US" altLang="ja-JP"/>
              <a:t>12</a:t>
            </a:r>
            <a:r>
              <a:rPr kumimoji="1" lang="ja-JP" altLang="en-US"/>
              <a:t>通り。</a:t>
            </a:r>
          </a:p>
        </p:txBody>
      </p:sp>
      <p:sp>
        <p:nvSpPr>
          <p:cNvPr id="4" name="スライド番号プレースホルダー 3"/>
          <p:cNvSpPr>
            <a:spLocks noGrp="1"/>
          </p:cNvSpPr>
          <p:nvPr>
            <p:ph type="sldNum" sz="quarter" idx="5"/>
          </p:nvPr>
        </p:nvSpPr>
        <p:spPr/>
        <p:txBody>
          <a:bodyPr/>
          <a:lstStyle/>
          <a:p>
            <a:fld id="{7F2895A6-8E05-4A74-91FA-ECC675CA0A01}" type="slidenum">
              <a:rPr kumimoji="1" lang="ja-JP" altLang="en-US" smtClean="0"/>
              <a:t>3</a:t>
            </a:fld>
            <a:endParaRPr kumimoji="1" lang="ja-JP" altLang="en-US"/>
          </a:p>
        </p:txBody>
      </p:sp>
    </p:spTree>
    <p:extLst>
      <p:ext uri="{BB962C8B-B14F-4D97-AF65-F5344CB8AC3E}">
        <p14:creationId xmlns:p14="http://schemas.microsoft.com/office/powerpoint/2010/main" val="2425635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【40</a:t>
            </a:r>
            <a:r>
              <a:rPr kumimoji="1" lang="ja-JP" altLang="en-US"/>
              <a:t>秒</a:t>
            </a:r>
            <a:r>
              <a:rPr kumimoji="1" lang="en-US" altLang="ja-JP"/>
              <a:t>】</a:t>
            </a:r>
            <a:r>
              <a:rPr kumimoji="1" lang="ja-JP" altLang="en-US"/>
              <a:t>既存コードを検査すると、私有情報を文章から削っても、確率や代替候補の順番に漏れる問題がありました。そこで公開説明を別の</a:t>
            </a:r>
            <a:r>
              <a:rPr kumimoji="1" lang="en-US" altLang="ja-JP"/>
              <a:t>60</a:t>
            </a:r>
            <a:r>
              <a:rPr kumimoji="1" lang="ja-JP" altLang="en-US"/>
              <a:t>世界で再計算しました。また、自分の投票を証拠として取り込むと、自分の判断を自分で強化してしまうため、自己行動を中立化しました。説明の根拠はイベントと規則へ接続し、観測への反論は、その証拠を除く再生で検討します。ソフト尤度のゼロや矛盾する</a:t>
            </a:r>
            <a:r>
              <a:rPr kumimoji="1" lang="en-US" altLang="ja-JP"/>
              <a:t>ID</a:t>
            </a:r>
            <a:r>
              <a:rPr kumimoji="1" lang="ja-JP" altLang="en-US"/>
              <a:t>も、黙って受け入れず拒否します。
実装中に確認した問題と修正</a:t>
            </a:r>
            <a:r>
              <a:rPr kumimoji="1" lang="en-US" altLang="ja-JP"/>
              <a:t>: docs/implementation-completion.md
</a:t>
            </a:r>
            <a:r>
              <a:rPr kumimoji="1" lang="ja-JP" altLang="en-US"/>
              <a:t>推論グラフ</a:t>
            </a:r>
            <a:r>
              <a:rPr kumimoji="1" lang="en-US" altLang="ja-JP"/>
              <a:t>: belief_explanations.py</a:t>
            </a:r>
            <a:r>
              <a:rPr kumimoji="1" lang="ja-JP" altLang="en-US"/>
              <a:t>。詳細な世界別尤度は </a:t>
            </a:r>
            <a:r>
              <a:rPr kumimoji="1" lang="en-US" altLang="ja-JP"/>
              <a:t>BeliefUpdate.world_evidence</a:t>
            </a:r>
            <a:r>
              <a:rPr kumimoji="1" lang="ja-JP" altLang="en-US"/>
              <a:t>。</a:t>
            </a:r>
          </a:p>
        </p:txBody>
      </p:sp>
      <p:sp>
        <p:nvSpPr>
          <p:cNvPr id="4" name="スライド番号プレースホルダー 3"/>
          <p:cNvSpPr>
            <a:spLocks noGrp="1"/>
          </p:cNvSpPr>
          <p:nvPr>
            <p:ph type="sldNum" sz="quarter" idx="5"/>
          </p:nvPr>
        </p:nvSpPr>
        <p:spPr/>
        <p:txBody>
          <a:bodyPr/>
          <a:lstStyle/>
          <a:p>
            <a:fld id="{7F2895A6-8E05-4A74-91FA-ECC675CA0A01}" type="slidenum">
              <a:rPr kumimoji="1" lang="ja-JP" altLang="en-US" smtClean="0"/>
              <a:t>4</a:t>
            </a:fld>
            <a:endParaRPr kumimoji="1" lang="ja-JP" altLang="en-US"/>
          </a:p>
        </p:txBody>
      </p:sp>
    </p:spTree>
    <p:extLst>
      <p:ext uri="{BB962C8B-B14F-4D97-AF65-F5344CB8AC3E}">
        <p14:creationId xmlns:p14="http://schemas.microsoft.com/office/powerpoint/2010/main" val="1074155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【35</a:t>
            </a:r>
            <a:r>
              <a:rPr kumimoji="1" lang="ja-JP" altLang="en-US"/>
              <a:t>秒</a:t>
            </a:r>
            <a:r>
              <a:rPr kumimoji="1" lang="en-US" altLang="ja-JP"/>
              <a:t>】</a:t>
            </a:r>
            <a:r>
              <a:rPr kumimoji="1" lang="ja-JP" altLang="en-US"/>
              <a:t>最後に合成局面を再生した動作例です。</a:t>
            </a:r>
            <a:r>
              <a:rPr kumimoji="1" lang="en-US" altLang="ja-JP"/>
              <a:t>Agent02</a:t>
            </a:r>
            <a:r>
              <a:rPr kumimoji="1" lang="ja-JP" altLang="en-US"/>
              <a:t>の占い師</a:t>
            </a:r>
            <a:r>
              <a:rPr kumimoji="1" lang="en-US" altLang="ja-JP"/>
              <a:t>CO</a:t>
            </a:r>
            <a:r>
              <a:rPr kumimoji="1" lang="ja-JP" altLang="en-US"/>
              <a:t>と</a:t>
            </a:r>
            <a:r>
              <a:rPr kumimoji="1" lang="en-US" altLang="ja-JP"/>
              <a:t>Agent03</a:t>
            </a:r>
            <a:r>
              <a:rPr kumimoji="1" lang="ja-JP" altLang="en-US"/>
              <a:t>への黒報告、</a:t>
            </a:r>
            <a:r>
              <a:rPr kumimoji="1" lang="en-US" altLang="ja-JP"/>
              <a:t>Agent04</a:t>
            </a:r>
            <a:r>
              <a:rPr kumimoji="1" lang="ja-JP" altLang="en-US"/>
              <a:t>の遅い対抗</a:t>
            </a:r>
            <a:r>
              <a:rPr kumimoji="1" lang="en-US" altLang="ja-JP"/>
              <a:t>CO</a:t>
            </a:r>
            <a:r>
              <a:rPr kumimoji="1" lang="ja-JP" altLang="en-US"/>
              <a:t>を入力しました。ハード制約のみでは固定順で</a:t>
            </a:r>
            <a:r>
              <a:rPr kumimoji="1" lang="en-US" altLang="ja-JP"/>
              <a:t>02</a:t>
            </a:r>
            <a:r>
              <a:rPr kumimoji="1" lang="ja-JP" altLang="en-US"/>
              <a:t>を選び、ソフト証拠を使うと</a:t>
            </a:r>
            <a:r>
              <a:rPr kumimoji="1" lang="en-US" altLang="ja-JP"/>
              <a:t>03</a:t>
            </a:r>
            <a:r>
              <a:rPr kumimoji="1" lang="ja-JP" altLang="en-US"/>
              <a:t>を選びます。自己以外の</a:t>
            </a:r>
            <a:r>
              <a:rPr kumimoji="1" lang="en-US" altLang="ja-JP"/>
              <a:t>4</a:t>
            </a:r>
            <a:r>
              <a:rPr kumimoji="1" lang="ja-JP" altLang="en-US"/>
              <a:t>人で計算した</a:t>
            </a:r>
            <a:r>
              <a:rPr kumimoji="1" lang="en-US" altLang="ja-JP"/>
              <a:t>Brier score</a:t>
            </a:r>
            <a:r>
              <a:rPr kumimoji="1" lang="ja-JP" altLang="en-US"/>
              <a:t>と</a:t>
            </a:r>
            <a:r>
              <a:rPr kumimoji="1" lang="en-US" altLang="ja-JP"/>
              <a:t>log loss</a:t>
            </a:r>
            <a:r>
              <a:rPr kumimoji="1" lang="ja-JP" altLang="en-US"/>
              <a:t>は表の通りです。ただし、これは仕組みの動作例で、勝率の実証ではありません。今後は実対戦ログで尤度を検証し、推定の較正と勝率、説明が投票を動かす効果を分けて測ります。
再現</a:t>
            </a:r>
            <a:r>
              <a:rPr kumimoji="1" lang="en-US" altLang="ja-JP"/>
              <a:t>: python belief_evaluation.py examples/five_player.json --output output/evaluation.json
</a:t>
            </a:r>
            <a:r>
              <a:rPr kumimoji="1" lang="ja-JP" altLang="en-US"/>
              <a:t>合成局面</a:t>
            </a:r>
            <a:r>
              <a:rPr kumimoji="1" lang="en-US" altLang="ja-JP"/>
              <a:t>1</a:t>
            </a:r>
            <a:r>
              <a:rPr kumimoji="1" lang="ja-JP" altLang="en-US"/>
              <a:t>件、評価対象</a:t>
            </a:r>
            <a:r>
              <a:rPr kumimoji="1" lang="en-US" altLang="ja-JP"/>
              <a:t>4</a:t>
            </a:r>
            <a:r>
              <a:rPr kumimoji="1" lang="ja-JP" altLang="en-US"/>
              <a:t>人。真役職は採点にのみ使用。</a:t>
            </a:r>
            <a:r>
              <a:rPr kumimoji="1" lang="en-US" altLang="ja-JP"/>
              <a:t>Brier</a:t>
            </a:r>
            <a:r>
              <a:rPr kumimoji="1" lang="ja-JP" altLang="en-US"/>
              <a:t>は</a:t>
            </a:r>
            <a:r>
              <a:rPr kumimoji="1" lang="en-US" altLang="ja-JP"/>
              <a:t>4</a:t>
            </a:r>
            <a:r>
              <a:rPr kumimoji="1" lang="ja-JP" altLang="en-US"/>
              <a:t>役職の二乗誤差和を対象人数で平均（範囲</a:t>
            </a:r>
            <a:r>
              <a:rPr kumimoji="1" lang="en-US" altLang="ja-JP"/>
              <a:t>0〜2</a:t>
            </a:r>
            <a:r>
              <a:rPr kumimoji="1" lang="ja-JP" altLang="en-US"/>
              <a:t>）。</a:t>
            </a:r>
            <a:r>
              <a:rPr kumimoji="1" lang="en-US" altLang="ja-JP"/>
              <a:t>log loss</a:t>
            </a:r>
            <a:r>
              <a:rPr kumimoji="1" lang="ja-JP" altLang="en-US"/>
              <a:t>は自然対数、下限</a:t>
            </a:r>
            <a:r>
              <a:rPr kumimoji="1" lang="en-US" altLang="ja-JP"/>
              <a:t>1e-15</a:t>
            </a:r>
            <a:r>
              <a:rPr kumimoji="1" lang="ja-JP" altLang="en-US"/>
              <a:t>。測定値は丸めて表示。
本実装の対象外</a:t>
            </a:r>
            <a:r>
              <a:rPr kumimoji="1" lang="en-US" altLang="ja-JP"/>
              <a:t>: </a:t>
            </a:r>
            <a:r>
              <a:rPr kumimoji="1" lang="ja-JP" altLang="en-US"/>
              <a:t>自由文生成、実戦勝率の測定、</a:t>
            </a:r>
            <a:r>
              <a:rPr kumimoji="1" lang="en-US" altLang="ja-JP"/>
              <a:t>15</a:t>
            </a:r>
            <a:r>
              <a:rPr kumimoji="1" lang="ja-JP" altLang="en-US"/>
              <a:t>人近似推論、学習、一貫した嘘生成。</a:t>
            </a:r>
          </a:p>
        </p:txBody>
      </p:sp>
      <p:sp>
        <p:nvSpPr>
          <p:cNvPr id="4" name="スライド番号プレースホルダー 3"/>
          <p:cNvSpPr>
            <a:spLocks noGrp="1"/>
          </p:cNvSpPr>
          <p:nvPr>
            <p:ph type="sldNum" sz="quarter" idx="5"/>
          </p:nvPr>
        </p:nvSpPr>
        <p:spPr/>
        <p:txBody>
          <a:bodyPr/>
          <a:lstStyle/>
          <a:p>
            <a:fld id="{7F2895A6-8E05-4A74-91FA-ECC675CA0A01}" type="slidenum">
              <a:rPr kumimoji="1" lang="ja-JP" altLang="en-US" smtClean="0"/>
              <a:t>5</a:t>
            </a:fld>
            <a:endParaRPr kumimoji="1" lang="ja-JP" altLang="en-US"/>
          </a:p>
        </p:txBody>
      </p:sp>
    </p:spTree>
    <p:extLst>
      <p:ext uri="{BB962C8B-B14F-4D97-AF65-F5344CB8AC3E}">
        <p14:creationId xmlns:p14="http://schemas.microsoft.com/office/powerpoint/2010/main" val="2467255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DFAFAA-21F0-D704-EEFF-8570A23BF34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B3770FF-66FA-D866-26C3-7DBC1B0563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A4A8503-EA00-A6FF-6CBD-6495E27DFDAF}"/>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EE0CC1BD-C915-F75A-91D0-4DF6F2AB04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1F110A-50E3-7AF3-10EC-EA502DD7DBE5}"/>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2402304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14D74C-5ED1-A213-D47E-746AB320381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D351E1-20E8-C47E-133D-AA30D29FC3B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14596A-A5F5-84C5-5E7A-A02B379C6E30}"/>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8EA6931E-47A1-DC53-C672-F5C2B506DB9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C49AB0D-9871-8F06-2344-7F76C6908074}"/>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3482640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F9B7C9-1D5A-DA12-249F-712B3959C8F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B148768-A01E-4A6D-4092-969DA2344B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301AB50-FB4C-36C6-95C5-5FD2D17FC5FC}"/>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D55DB8F8-EC65-62B7-00B9-C82B9DD52BE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24AE344-A3A7-13A8-861F-0D84F8D7D2E5}"/>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3632218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A01E7C-880B-5B65-804B-DA74670BE1D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2273297-41A7-E4A8-892D-6366D5523D5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659C44B-40B2-1856-A896-CA5B30D0CCD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1365AC1-BC62-E505-C90E-66A89F21B1DE}"/>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6" name="フッター プレースホルダー 5">
            <a:extLst>
              <a:ext uri="{FF2B5EF4-FFF2-40B4-BE49-F238E27FC236}">
                <a16:creationId xmlns:a16="http://schemas.microsoft.com/office/drawing/2014/main" id="{83981098-4824-6699-C089-16AFA1C17FE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3E65676-550F-7872-D708-8EEF2FE0AA44}"/>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2187838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888C00-BDCA-00BC-CBAC-70E4DA5E528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3C446D8-765A-66DB-E823-4DF8F3A77F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B895AAE-2DEB-DA60-D60A-0D0B89F3150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6BF5CCB-11C6-86FE-502E-C3081B7F2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A913B21-CBA1-77A3-ABA9-42FFBDDFBC2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21F0DB6-8AB9-1542-42F5-8E237A3E65F3}"/>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8" name="フッター プレースホルダー 7">
            <a:extLst>
              <a:ext uri="{FF2B5EF4-FFF2-40B4-BE49-F238E27FC236}">
                <a16:creationId xmlns:a16="http://schemas.microsoft.com/office/drawing/2014/main" id="{8551DB7D-1D64-D76A-8AC6-DD78F178A27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3B422B3-6BF2-479C-8F19-0624410407B5}"/>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230241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4DC922-64FB-0284-6B28-FDC2D88E445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2847D9F-0B0E-B60C-6D37-BE1A9573D73B}"/>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4" name="フッター プレースホルダー 3">
            <a:extLst>
              <a:ext uri="{FF2B5EF4-FFF2-40B4-BE49-F238E27FC236}">
                <a16:creationId xmlns:a16="http://schemas.microsoft.com/office/drawing/2014/main" id="{BB990F88-2F28-AEFD-BE5E-95EB6ADF84E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8040B91-3C4F-9844-2699-5A5259669282}"/>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3645879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77F355B-6117-816F-BDB7-C4B67051C32E}"/>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3" name="フッター プレースホルダー 2">
            <a:extLst>
              <a:ext uri="{FF2B5EF4-FFF2-40B4-BE49-F238E27FC236}">
                <a16:creationId xmlns:a16="http://schemas.microsoft.com/office/drawing/2014/main" id="{658F2669-9019-DA94-30E3-F7BE40C7FFB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F69CD8C-29D7-281D-8F9C-8C39E4C4225D}"/>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1201458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65CD1E-F5E6-02C7-22E7-7B71C709742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BB2533-EF82-48F6-207A-B2D3D75ED4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5F8F7C9-9A4A-7B51-6D57-D3EC8540DF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CA8CE27-D642-6599-092B-65455DD2D09D}"/>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6" name="フッター プレースホルダー 5">
            <a:extLst>
              <a:ext uri="{FF2B5EF4-FFF2-40B4-BE49-F238E27FC236}">
                <a16:creationId xmlns:a16="http://schemas.microsoft.com/office/drawing/2014/main" id="{9A523C24-F5E9-8CF4-E1D6-0E8C965A0BD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C54EFF5-A065-E8FC-3DF9-4C6BD6AC9A67}"/>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3775976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B4CA24-61C3-51A6-121C-A3C19B51C8A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81856F-4DBF-65D0-DC2F-2DDF036780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CD5463F-0648-5AB5-F9C2-63BADD4E18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CF115D5-BBE0-B16E-B33B-C1D1D6072026}"/>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6" name="フッター プレースホルダー 5">
            <a:extLst>
              <a:ext uri="{FF2B5EF4-FFF2-40B4-BE49-F238E27FC236}">
                <a16:creationId xmlns:a16="http://schemas.microsoft.com/office/drawing/2014/main" id="{46D35C19-847F-4F88-0258-3D6BC8A6DF2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9BD4125-DAC7-1E94-B759-07221681F0FF}"/>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353986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9C616D-42D8-C347-C6AF-3E550B2DFA1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671BF49-B57D-15FE-BA9C-AFE6FFCDEDF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BC3A4E0-E58D-68E6-B566-F6D6E5475500}"/>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B44D97B4-C082-5727-A3A9-6A895BB34D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9369FB0-79AA-A059-3C59-EB1159344F2C}"/>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430816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AFB393F-1AB7-C092-45C4-23DA7D96627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4F0F38A-9271-2266-B578-E1B3121FE83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F6DB476-1990-863D-C014-A02641720CDE}"/>
              </a:ext>
            </a:extLst>
          </p:cNvPr>
          <p:cNvSpPr>
            <a:spLocks noGrp="1"/>
          </p:cNvSpPr>
          <p:nvPr>
            <p:ph type="dt" sz="half" idx="10"/>
          </p:nvPr>
        </p:nvSpPr>
        <p:spPr/>
        <p:txBody>
          <a:bodyPr/>
          <a:lstStyle/>
          <a:p>
            <a:fld id="{25254795-EBB6-4B8D-AD2D-83A7B709EE8B}" type="datetimeFigureOut">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A42176BF-66D7-DAB4-6169-31C2E2F9EDF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9F776C-519C-E3EC-0AFA-AFD57EF9F1F3}"/>
              </a:ext>
            </a:extLst>
          </p:cNvPr>
          <p:cNvSpPr>
            <a:spLocks noGrp="1"/>
          </p:cNvSpPr>
          <p:nvPr>
            <p:ph type="sldNum" sz="quarter" idx="12"/>
          </p:nvPr>
        </p:nvSpPr>
        <p:spPr/>
        <p:txBody>
          <a:body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2912135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589AFF4-F834-6A27-7173-4840996FE6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CAE79AC-B219-550D-BAD0-0CAA57AF2E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15D46C7-A0ED-2473-F773-748392B184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254795-EBB6-4B8D-AD2D-83A7B709EE8B}" type="datetimeFigureOut">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FF888E04-D9AE-F463-416B-DF1303EC85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04E3495-B3A5-5D04-B745-40478A5CDA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58D9F8-1FCD-4315-8CE1-9D1522BDED6B}" type="slidenum">
              <a:rPr kumimoji="1" lang="ja-JP" altLang="en-US" smtClean="0"/>
              <a:t>‹#›</a:t>
            </a:fld>
            <a:endParaRPr kumimoji="1" lang="ja-JP" altLang="en-US"/>
          </a:p>
        </p:txBody>
      </p:sp>
    </p:spTree>
    <p:extLst>
      <p:ext uri="{BB962C8B-B14F-4D97-AF65-F5344CB8AC3E}">
        <p14:creationId xmlns:p14="http://schemas.microsoft.com/office/powerpoint/2010/main" val="46867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F8648B3-2E69-5980-55EC-9A3FA0055BB1}"/>
              </a:ext>
            </a:extLst>
          </p:cNvPr>
          <p:cNvSpPr txBox="1"/>
          <p:nvPr/>
        </p:nvSpPr>
        <p:spPr>
          <a:xfrm>
            <a:off x="685800" y="457200"/>
            <a:ext cx="10858500" cy="492443"/>
          </a:xfrm>
          <a:prstGeom prst="rect">
            <a:avLst/>
          </a:prstGeom>
          <a:noFill/>
        </p:spPr>
        <p:txBody>
          <a:bodyPr vert="horz" wrap="square" lIns="0" tIns="0" rIns="0" bIns="0" rtlCol="0">
            <a:spAutoFit/>
          </a:bodyPr>
          <a:lstStyle/>
          <a:p>
            <a:r>
              <a:rPr kumimoji="1" lang="ja-JP" altLang="en-US" sz="3200" b="1">
                <a:solidFill>
                  <a:srgbClr val="182228"/>
                </a:solidFill>
                <a:latin typeface="Yu Gothic" panose="020B0400000000000000" pitchFamily="50" charset="-128"/>
                <a:ea typeface="Yu Gothic" panose="020B0400000000000000" pitchFamily="50" charset="-128"/>
              </a:rPr>
              <a:t>説明可能な人狼</a:t>
            </a:r>
            <a:r>
              <a:rPr kumimoji="1" lang="en-US" altLang="ja-JP" sz="3200" b="1">
                <a:solidFill>
                  <a:srgbClr val="182228"/>
                </a:solidFill>
                <a:latin typeface="Yu Gothic" panose="020B0400000000000000" pitchFamily="50" charset="-128"/>
                <a:ea typeface="Yu Gothic" panose="020B0400000000000000" pitchFamily="50" charset="-128"/>
              </a:rPr>
              <a:t>AI</a:t>
            </a:r>
            <a:endParaRPr kumimoji="1" lang="ja-JP" altLang="en-US" sz="3200" b="1">
              <a:solidFill>
                <a:srgbClr val="182228"/>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21BEC1BC-5140-07E4-71E1-BC48F7621591}"/>
              </a:ext>
            </a:extLst>
          </p:cNvPr>
          <p:cNvSpPr txBox="1"/>
          <p:nvPr/>
        </p:nvSpPr>
        <p:spPr>
          <a:xfrm>
            <a:off x="10845800" y="6426200"/>
            <a:ext cx="825500" cy="184666"/>
          </a:xfrm>
          <a:prstGeom prst="rect">
            <a:avLst/>
          </a:prstGeom>
          <a:noFill/>
        </p:spPr>
        <p:txBody>
          <a:bodyPr vert="horz" wrap="square" lIns="0" tIns="0" rIns="0" bIns="0" rtlCol="0">
            <a:spAutoFit/>
          </a:bodyPr>
          <a:lstStyle/>
          <a:p>
            <a:r>
              <a:rPr kumimoji="1" lang="en-US" altLang="ja-JP" sz="1200">
                <a:solidFill>
                  <a:srgbClr val="606060"/>
                </a:solidFill>
                <a:latin typeface="Yu Gothic" panose="020B0400000000000000" pitchFamily="50" charset="-128"/>
                <a:ea typeface="Yu Gothic" panose="020B0400000000000000" pitchFamily="50" charset="-128"/>
              </a:rPr>
              <a:t>1 / 5</a:t>
            </a:r>
            <a:endParaRPr kumimoji="1" lang="ja-JP" altLang="en-US" sz="1200">
              <a:solidFill>
                <a:srgbClr val="606060"/>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0E34DB41-4D94-7F35-10FB-095CF9759D62}"/>
              </a:ext>
            </a:extLst>
          </p:cNvPr>
          <p:cNvSpPr txBox="1"/>
          <p:nvPr/>
        </p:nvSpPr>
        <p:spPr>
          <a:xfrm>
            <a:off x="685800" y="2184400"/>
            <a:ext cx="10795000" cy="646331"/>
          </a:xfrm>
          <a:prstGeom prst="rect">
            <a:avLst/>
          </a:prstGeom>
          <a:noFill/>
        </p:spPr>
        <p:txBody>
          <a:bodyPr vert="horz" wrap="square" lIns="0" tIns="0" rIns="0" bIns="0" rtlCol="0">
            <a:spAutoFit/>
          </a:bodyPr>
          <a:lstStyle/>
          <a:p>
            <a:r>
              <a:rPr kumimoji="1" lang="ja-JP" altLang="en-US" sz="4200" b="1">
                <a:solidFill>
                  <a:srgbClr val="00A080"/>
                </a:solidFill>
                <a:latin typeface="Yu Gothic" panose="020B0400000000000000" pitchFamily="50" charset="-128"/>
                <a:ea typeface="Yu Gothic" panose="020B0400000000000000" pitchFamily="50" charset="-128"/>
              </a:rPr>
              <a:t>なぜ、その人を疑うのか</a:t>
            </a:r>
          </a:p>
        </p:txBody>
      </p:sp>
      <p:sp>
        <p:nvSpPr>
          <p:cNvPr id="5" name="テキスト ボックス 4">
            <a:extLst>
              <a:ext uri="{FF2B5EF4-FFF2-40B4-BE49-F238E27FC236}">
                <a16:creationId xmlns:a16="http://schemas.microsoft.com/office/drawing/2014/main" id="{38F44570-869D-6B48-7F6C-8F7A5097FC4A}"/>
              </a:ext>
            </a:extLst>
          </p:cNvPr>
          <p:cNvSpPr txBox="1"/>
          <p:nvPr/>
        </p:nvSpPr>
        <p:spPr>
          <a:xfrm>
            <a:off x="685800" y="3581400"/>
            <a:ext cx="10668000" cy="800219"/>
          </a:xfrm>
          <a:prstGeom prst="rect">
            <a:avLst/>
          </a:prstGeom>
          <a:noFill/>
        </p:spPr>
        <p:txBody>
          <a:bodyPr vert="horz" wrap="square" lIns="0" tIns="0" rIns="0" bIns="0" rtlCol="0">
            <a:spAutoFit/>
          </a:bodyPr>
          <a:lstStyle/>
          <a:p>
            <a:r>
              <a:rPr kumimoji="1" lang="ja-JP" altLang="en-US" sz="2600">
                <a:solidFill>
                  <a:srgbClr val="182228"/>
                </a:solidFill>
                <a:latin typeface="Yu Gothic" panose="020B0400000000000000" pitchFamily="50" charset="-128"/>
                <a:ea typeface="Yu Gothic" panose="020B0400000000000000" pitchFamily="50" charset="-128"/>
              </a:rPr>
              <a:t>発言には嘘がある。自分だけが知る情報もある。
判断の根拠を、他者が検討できる形で残す。</a:t>
            </a:r>
          </a:p>
        </p:txBody>
      </p:sp>
      <p:sp>
        <p:nvSpPr>
          <p:cNvPr id="6" name="テキスト ボックス 5">
            <a:extLst>
              <a:ext uri="{FF2B5EF4-FFF2-40B4-BE49-F238E27FC236}">
                <a16:creationId xmlns:a16="http://schemas.microsoft.com/office/drawing/2014/main" id="{03646ECB-DC2C-54AE-CFE8-1469C22B2DC8}"/>
              </a:ext>
            </a:extLst>
          </p:cNvPr>
          <p:cNvSpPr txBox="1"/>
          <p:nvPr/>
        </p:nvSpPr>
        <p:spPr>
          <a:xfrm>
            <a:off x="685800" y="5549900"/>
            <a:ext cx="10795000" cy="307777"/>
          </a:xfrm>
          <a:prstGeom prst="rect">
            <a:avLst/>
          </a:prstGeom>
          <a:noFill/>
        </p:spPr>
        <p:txBody>
          <a:bodyPr vert="horz" wrap="square" lIns="0" tIns="0" rIns="0" bIns="0" rtlCol="0">
            <a:spAutoFit/>
          </a:bodyPr>
          <a:lstStyle/>
          <a:p>
            <a:r>
              <a:rPr kumimoji="1" lang="en-US" altLang="ja-JP" sz="2000">
                <a:solidFill>
                  <a:srgbClr val="606060"/>
                </a:solidFill>
                <a:latin typeface="Yu Gothic" panose="020B0400000000000000" pitchFamily="50" charset="-128"/>
                <a:ea typeface="Yu Gothic" panose="020B0400000000000000" pitchFamily="50" charset="-128"/>
              </a:rPr>
              <a:t>5</a:t>
            </a:r>
            <a:r>
              <a:rPr kumimoji="1" lang="ja-JP" altLang="en-US" sz="2000">
                <a:solidFill>
                  <a:srgbClr val="606060"/>
                </a:solidFill>
                <a:latin typeface="Yu Gothic" panose="020B0400000000000000" pitchFamily="50" charset="-128"/>
                <a:ea typeface="Yu Gothic" panose="020B0400000000000000" pitchFamily="50" charset="-128"/>
              </a:rPr>
              <a:t>人村  村人</a:t>
            </a:r>
            <a:r>
              <a:rPr kumimoji="1" lang="en-US" altLang="ja-JP" sz="2000">
                <a:solidFill>
                  <a:srgbClr val="606060"/>
                </a:solidFill>
                <a:latin typeface="Yu Gothic" panose="020B0400000000000000" pitchFamily="50" charset="-128"/>
                <a:ea typeface="Yu Gothic" panose="020B0400000000000000" pitchFamily="50" charset="-128"/>
              </a:rPr>
              <a:t>2</a:t>
            </a:r>
            <a:r>
              <a:rPr kumimoji="1" lang="ja-JP" altLang="en-US" sz="2000">
                <a:solidFill>
                  <a:srgbClr val="606060"/>
                </a:solidFill>
                <a:latin typeface="Yu Gothic" panose="020B0400000000000000" pitchFamily="50" charset="-128"/>
                <a:ea typeface="Yu Gothic" panose="020B0400000000000000" pitchFamily="50" charset="-128"/>
              </a:rPr>
              <a:t>・占い師</a:t>
            </a:r>
            <a:r>
              <a:rPr kumimoji="1" lang="en-US" altLang="ja-JP" sz="2000">
                <a:solidFill>
                  <a:srgbClr val="606060"/>
                </a:solidFill>
                <a:latin typeface="Yu Gothic" panose="020B0400000000000000" pitchFamily="50" charset="-128"/>
                <a:ea typeface="Yu Gothic" panose="020B0400000000000000" pitchFamily="50" charset="-128"/>
              </a:rPr>
              <a:t>1</a:t>
            </a:r>
            <a:r>
              <a:rPr kumimoji="1" lang="ja-JP" altLang="en-US" sz="2000">
                <a:solidFill>
                  <a:srgbClr val="606060"/>
                </a:solidFill>
                <a:latin typeface="Yu Gothic" panose="020B0400000000000000" pitchFamily="50" charset="-128"/>
                <a:ea typeface="Yu Gothic" panose="020B0400000000000000" pitchFamily="50" charset="-128"/>
              </a:rPr>
              <a:t>・狂人</a:t>
            </a:r>
            <a:r>
              <a:rPr kumimoji="1" lang="en-US" altLang="ja-JP" sz="2000">
                <a:solidFill>
                  <a:srgbClr val="606060"/>
                </a:solidFill>
                <a:latin typeface="Yu Gothic" panose="020B0400000000000000" pitchFamily="50" charset="-128"/>
                <a:ea typeface="Yu Gothic" panose="020B0400000000000000" pitchFamily="50" charset="-128"/>
              </a:rPr>
              <a:t>1</a:t>
            </a:r>
            <a:r>
              <a:rPr kumimoji="1" lang="ja-JP" altLang="en-US" sz="2000">
                <a:solidFill>
                  <a:srgbClr val="606060"/>
                </a:solidFill>
                <a:latin typeface="Yu Gothic" panose="020B0400000000000000" pitchFamily="50" charset="-128"/>
                <a:ea typeface="Yu Gothic" panose="020B0400000000000000" pitchFamily="50" charset="-128"/>
              </a:rPr>
              <a:t>・人狼</a:t>
            </a:r>
            <a:r>
              <a:rPr kumimoji="1" lang="en-US" altLang="ja-JP" sz="2000">
                <a:solidFill>
                  <a:srgbClr val="606060"/>
                </a:solidFill>
                <a:latin typeface="Yu Gothic" panose="020B0400000000000000" pitchFamily="50" charset="-128"/>
                <a:ea typeface="Yu Gothic" panose="020B0400000000000000" pitchFamily="50" charset="-128"/>
              </a:rPr>
              <a:t>1</a:t>
            </a:r>
            <a:endParaRPr kumimoji="1" lang="ja-JP" altLang="en-US" sz="2000">
              <a:solidFill>
                <a:srgbClr val="606060"/>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2983052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67BA758-682D-4216-F681-ABD449DAA282}"/>
              </a:ext>
            </a:extLst>
          </p:cNvPr>
          <p:cNvSpPr txBox="1"/>
          <p:nvPr/>
        </p:nvSpPr>
        <p:spPr>
          <a:xfrm>
            <a:off x="685800" y="457200"/>
            <a:ext cx="10858500" cy="492443"/>
          </a:xfrm>
          <a:prstGeom prst="rect">
            <a:avLst/>
          </a:prstGeom>
          <a:noFill/>
        </p:spPr>
        <p:txBody>
          <a:bodyPr vert="horz" wrap="square" lIns="0" tIns="0" rIns="0" bIns="0" rtlCol="0">
            <a:spAutoFit/>
          </a:bodyPr>
          <a:lstStyle/>
          <a:p>
            <a:r>
              <a:rPr kumimoji="1" lang="ja-JP" altLang="en-US" sz="3200" b="1">
                <a:solidFill>
                  <a:srgbClr val="182228"/>
                </a:solidFill>
                <a:latin typeface="Yu Gothic" panose="020B0400000000000000" pitchFamily="50" charset="-128"/>
                <a:ea typeface="Yu Gothic" panose="020B0400000000000000" pitchFamily="50" charset="-128"/>
              </a:rPr>
              <a:t>先行研究と今回の問題意識</a:t>
            </a:r>
          </a:p>
        </p:txBody>
      </p:sp>
      <p:sp>
        <p:nvSpPr>
          <p:cNvPr id="3" name="テキスト ボックス 2">
            <a:extLst>
              <a:ext uri="{FF2B5EF4-FFF2-40B4-BE49-F238E27FC236}">
                <a16:creationId xmlns:a16="http://schemas.microsoft.com/office/drawing/2014/main" id="{5DD2CEF8-7CB0-FB76-FBDB-BC22A6492BC0}"/>
              </a:ext>
            </a:extLst>
          </p:cNvPr>
          <p:cNvSpPr txBox="1"/>
          <p:nvPr/>
        </p:nvSpPr>
        <p:spPr>
          <a:xfrm>
            <a:off x="10845800" y="6426200"/>
            <a:ext cx="825500" cy="184666"/>
          </a:xfrm>
          <a:prstGeom prst="rect">
            <a:avLst/>
          </a:prstGeom>
          <a:noFill/>
        </p:spPr>
        <p:txBody>
          <a:bodyPr vert="horz" wrap="square" lIns="0" tIns="0" rIns="0" bIns="0" rtlCol="0">
            <a:spAutoFit/>
          </a:bodyPr>
          <a:lstStyle/>
          <a:p>
            <a:r>
              <a:rPr kumimoji="1" lang="en-US" altLang="ja-JP" sz="1200">
                <a:solidFill>
                  <a:srgbClr val="606060"/>
                </a:solidFill>
                <a:latin typeface="Yu Gothic" panose="020B0400000000000000" pitchFamily="50" charset="-128"/>
                <a:ea typeface="Yu Gothic" panose="020B0400000000000000" pitchFamily="50" charset="-128"/>
              </a:rPr>
              <a:t>2 / 5</a:t>
            </a:r>
            <a:endParaRPr kumimoji="1" lang="ja-JP" altLang="en-US" sz="1200">
              <a:solidFill>
                <a:srgbClr val="606060"/>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12B9BE4B-E30E-2211-33C9-E7B8575E838B}"/>
              </a:ext>
            </a:extLst>
          </p:cNvPr>
          <p:cNvSpPr txBox="1"/>
          <p:nvPr/>
        </p:nvSpPr>
        <p:spPr>
          <a:xfrm>
            <a:off x="685800" y="1625600"/>
            <a:ext cx="10820400" cy="384721"/>
          </a:xfrm>
          <a:prstGeom prst="rect">
            <a:avLst/>
          </a:prstGeom>
          <a:noFill/>
        </p:spPr>
        <p:txBody>
          <a:bodyPr vert="horz" wrap="square" lIns="0" tIns="0" rIns="0" bIns="0" rtlCol="0">
            <a:spAutoFit/>
          </a:bodyPr>
          <a:lstStyle/>
          <a:p>
            <a:r>
              <a:rPr kumimoji="1" lang="ja-JP" altLang="en-US" sz="2500" b="1">
                <a:solidFill>
                  <a:srgbClr val="00A080"/>
                </a:solidFill>
                <a:latin typeface="Yu Gothic" panose="020B0400000000000000" pitchFamily="50" charset="-128"/>
                <a:ea typeface="Yu Gothic" panose="020B0400000000000000" pitchFamily="50" charset="-128"/>
              </a:rPr>
              <a:t>推定精度の改善だけでは、勝率改善を保証できない</a:t>
            </a:r>
          </a:p>
        </p:txBody>
      </p:sp>
      <p:graphicFrame>
        <p:nvGraphicFramePr>
          <p:cNvPr id="5" name="表 4">
            <a:extLst>
              <a:ext uri="{FF2B5EF4-FFF2-40B4-BE49-F238E27FC236}">
                <a16:creationId xmlns:a16="http://schemas.microsoft.com/office/drawing/2014/main" id="{BA247CDC-3947-AD4F-DDDA-2B88C89E18C9}"/>
              </a:ext>
            </a:extLst>
          </p:cNvPr>
          <p:cNvGraphicFramePr>
            <a:graphicFrameLocks noGrp="1"/>
          </p:cNvGraphicFramePr>
          <p:nvPr>
            <p:extLst>
              <p:ext uri="{D42A27DB-BD31-4B8C-83A1-F6EECF244321}">
                <p14:modId xmlns:p14="http://schemas.microsoft.com/office/powerpoint/2010/main" val="685167771"/>
              </p:ext>
            </p:extLst>
          </p:nvPr>
        </p:nvGraphicFramePr>
        <p:xfrm>
          <a:off x="685800" y="2590800"/>
          <a:ext cx="10820400" cy="20193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4166179983"/>
                    </a:ext>
                  </a:extLst>
                </a:gridCol>
                <a:gridCol w="2552700">
                  <a:extLst>
                    <a:ext uri="{9D8B030D-6E8A-4147-A177-3AD203B41FA5}">
                      <a16:colId xmlns:a16="http://schemas.microsoft.com/office/drawing/2014/main" val="1945428023"/>
                    </a:ext>
                  </a:extLst>
                </a:gridCol>
                <a:gridCol w="2552700">
                  <a:extLst>
                    <a:ext uri="{9D8B030D-6E8A-4147-A177-3AD203B41FA5}">
                      <a16:colId xmlns:a16="http://schemas.microsoft.com/office/drawing/2014/main" val="3787903211"/>
                    </a:ext>
                  </a:extLst>
                </a:gridCol>
              </a:tblGrid>
              <a:tr h="673100">
                <a:tc>
                  <a:txBody>
                    <a:bodyPr/>
                    <a:lstStyle/>
                    <a:p>
                      <a:r>
                        <a:rPr kumimoji="1" lang="en-US" altLang="ja-JP" sz="2000">
                          <a:solidFill>
                            <a:srgbClr val="FFFFFF"/>
                          </a:solidFill>
                          <a:latin typeface="Yu Gothic" panose="020B0400000000000000" pitchFamily="50" charset="-128"/>
                          <a:ea typeface="Yu Gothic" panose="020B0400000000000000" pitchFamily="50" charset="-128"/>
                        </a:rPr>
                        <a:t>2020</a:t>
                      </a:r>
                      <a:r>
                        <a:rPr kumimoji="1" lang="ja-JP" altLang="en-US" sz="2000">
                          <a:solidFill>
                            <a:srgbClr val="FFFFFF"/>
                          </a:solidFill>
                          <a:latin typeface="Yu Gothic" panose="020B0400000000000000" pitchFamily="50" charset="-128"/>
                          <a:ea typeface="Yu Gothic" panose="020B0400000000000000" pitchFamily="50" charset="-128"/>
                        </a:rPr>
                        <a:t>年研究の比較</a:t>
                      </a:r>
                    </a:p>
                  </a:txBody>
                  <a:tcPr marL="177800" marR="127000" anchor="ctr">
                    <a:solidFill>
                      <a:srgbClr val="182228"/>
                    </a:solidFill>
                  </a:tcPr>
                </a:tc>
                <a:tc>
                  <a:txBody>
                    <a:bodyPr/>
                    <a:lstStyle/>
                    <a:p>
                      <a:r>
                        <a:rPr kumimoji="1" lang="ja-JP" altLang="en-US" sz="2000">
                          <a:solidFill>
                            <a:srgbClr val="FFFFFF"/>
                          </a:solidFill>
                          <a:latin typeface="Yu Gothic" panose="020B0400000000000000" pitchFamily="50" charset="-128"/>
                          <a:ea typeface="Yu Gothic" panose="020B0400000000000000" pitchFamily="50" charset="-128"/>
                        </a:rPr>
                        <a:t>従来モデル</a:t>
                      </a:r>
                    </a:p>
                  </a:txBody>
                  <a:tcPr marL="177800" marR="127000" anchor="ctr">
                    <a:solidFill>
                      <a:srgbClr val="182228"/>
                    </a:solidFill>
                  </a:tcPr>
                </a:tc>
                <a:tc>
                  <a:txBody>
                    <a:bodyPr/>
                    <a:lstStyle/>
                    <a:p>
                      <a:r>
                        <a:rPr kumimoji="1" lang="ja-JP" altLang="en-US" sz="2000">
                          <a:solidFill>
                            <a:srgbClr val="FFFFFF"/>
                          </a:solidFill>
                          <a:latin typeface="Yu Gothic" panose="020B0400000000000000" pitchFamily="50" charset="-128"/>
                          <a:ea typeface="Yu Gothic" panose="020B0400000000000000" pitchFamily="50" charset="-128"/>
                        </a:rPr>
                        <a:t>提案モデル</a:t>
                      </a:r>
                    </a:p>
                  </a:txBody>
                  <a:tcPr marL="177800" marR="127000" anchor="ctr">
                    <a:solidFill>
                      <a:srgbClr val="182228"/>
                    </a:solidFill>
                  </a:tcPr>
                </a:tc>
                <a:extLst>
                  <a:ext uri="{0D108BD9-81ED-4DB2-BD59-A6C34878D82A}">
                    <a16:rowId xmlns:a16="http://schemas.microsoft.com/office/drawing/2014/main" val="3871441173"/>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人狼推定精度</a:t>
                      </a: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71.1%</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72.3%</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extLst>
                  <a:ext uri="{0D108BD9-81ED-4DB2-BD59-A6C34878D82A}">
                    <a16:rowId xmlns:a16="http://schemas.microsoft.com/office/drawing/2014/main" val="2733516115"/>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提案エージェント勝率</a:t>
                      </a: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46.7%</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45.3%</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extLst>
                  <a:ext uri="{0D108BD9-81ED-4DB2-BD59-A6C34878D82A}">
                    <a16:rowId xmlns:a16="http://schemas.microsoft.com/office/drawing/2014/main" val="473484775"/>
                  </a:ext>
                </a:extLst>
              </a:tr>
            </a:tbl>
          </a:graphicData>
        </a:graphic>
      </p:graphicFrame>
      <p:sp>
        <p:nvSpPr>
          <p:cNvPr id="6" name="テキスト ボックス 5">
            <a:extLst>
              <a:ext uri="{FF2B5EF4-FFF2-40B4-BE49-F238E27FC236}">
                <a16:creationId xmlns:a16="http://schemas.microsoft.com/office/drawing/2014/main" id="{6B7FC274-FDB5-D673-8A07-4846E17DB5B1}"/>
              </a:ext>
            </a:extLst>
          </p:cNvPr>
          <p:cNvSpPr txBox="1"/>
          <p:nvPr/>
        </p:nvSpPr>
        <p:spPr>
          <a:xfrm>
            <a:off x="685800" y="5041900"/>
            <a:ext cx="10795000" cy="338554"/>
          </a:xfrm>
          <a:prstGeom prst="rect">
            <a:avLst/>
          </a:prstGeom>
          <a:noFill/>
        </p:spPr>
        <p:txBody>
          <a:bodyPr vert="horz" wrap="square" lIns="0" tIns="0" rIns="0" bIns="0" rtlCol="0">
            <a:spAutoFit/>
          </a:bodyPr>
          <a:lstStyle/>
          <a:p>
            <a:r>
              <a:rPr kumimoji="1" lang="en-US" altLang="ja-JP" sz="2200">
                <a:solidFill>
                  <a:srgbClr val="182228"/>
                </a:solidFill>
                <a:latin typeface="Yu Gothic" panose="020B0400000000000000" pitchFamily="50" charset="-128"/>
                <a:ea typeface="Yu Gothic" panose="020B0400000000000000" pitchFamily="50" charset="-128"/>
              </a:rPr>
              <a:t>2024</a:t>
            </a:r>
            <a:r>
              <a:rPr kumimoji="1" lang="ja-JP" altLang="en-US" sz="2200">
                <a:solidFill>
                  <a:srgbClr val="182228"/>
                </a:solidFill>
                <a:latin typeface="Yu Gothic" panose="020B0400000000000000" pitchFamily="50" charset="-128"/>
                <a:ea typeface="Yu Gothic" panose="020B0400000000000000" pitchFamily="50" charset="-128"/>
              </a:rPr>
              <a:t>年の論理・可能世界研究を参考に、役職推定と説明を接続</a:t>
            </a:r>
          </a:p>
        </p:txBody>
      </p:sp>
      <p:sp>
        <p:nvSpPr>
          <p:cNvPr id="7" name="テキスト ボックス 6">
            <a:extLst>
              <a:ext uri="{FF2B5EF4-FFF2-40B4-BE49-F238E27FC236}">
                <a16:creationId xmlns:a16="http://schemas.microsoft.com/office/drawing/2014/main" id="{889BA4A0-54F9-6511-A9D4-1ECBEADD2F77}"/>
              </a:ext>
            </a:extLst>
          </p:cNvPr>
          <p:cNvSpPr txBox="1"/>
          <p:nvPr/>
        </p:nvSpPr>
        <p:spPr>
          <a:xfrm>
            <a:off x="685800" y="6019800"/>
            <a:ext cx="10668000" cy="215444"/>
          </a:xfrm>
          <a:prstGeom prst="rect">
            <a:avLst/>
          </a:prstGeom>
          <a:noFill/>
        </p:spPr>
        <p:txBody>
          <a:bodyPr vert="horz" wrap="square" lIns="0" tIns="0" rIns="0" bIns="0" rtlCol="0">
            <a:spAutoFit/>
          </a:bodyPr>
          <a:lstStyle/>
          <a:p>
            <a:r>
              <a:rPr kumimoji="1" lang="ja-JP" altLang="en-US" sz="1400">
                <a:solidFill>
                  <a:srgbClr val="606060"/>
                </a:solidFill>
                <a:latin typeface="Yu Gothic" panose="020B0400000000000000" pitchFamily="50" charset="-128"/>
                <a:ea typeface="Yu Gothic" panose="020B0400000000000000" pitchFamily="50" charset="-128"/>
              </a:rPr>
              <a:t>出典</a:t>
            </a:r>
            <a:r>
              <a:rPr kumimoji="1" lang="en-US" altLang="ja-JP" sz="1400">
                <a:solidFill>
                  <a:srgbClr val="606060"/>
                </a:solidFill>
                <a:latin typeface="Yu Gothic" panose="020B0400000000000000" pitchFamily="50" charset="-128"/>
                <a:ea typeface="Yu Gothic" panose="020B0400000000000000" pitchFamily="50" charset="-128"/>
              </a:rPr>
              <a:t>: </a:t>
            </a:r>
            <a:r>
              <a:rPr kumimoji="1" lang="ja-JP" altLang="en-US" sz="1400">
                <a:solidFill>
                  <a:srgbClr val="606060"/>
                </a:solidFill>
                <a:latin typeface="Yu Gothic" panose="020B0400000000000000" pitchFamily="50" charset="-128"/>
                <a:ea typeface="Yu Gothic" panose="020B0400000000000000" pitchFamily="50" charset="-128"/>
              </a:rPr>
              <a:t>早稲田ほか（</a:t>
            </a:r>
            <a:r>
              <a:rPr kumimoji="1" lang="en-US" altLang="ja-JP" sz="1400">
                <a:solidFill>
                  <a:srgbClr val="606060"/>
                </a:solidFill>
                <a:latin typeface="Yu Gothic" panose="020B0400000000000000" pitchFamily="50" charset="-128"/>
                <a:ea typeface="Yu Gothic" panose="020B0400000000000000" pitchFamily="50" charset="-128"/>
              </a:rPr>
              <a:t>2020</a:t>
            </a:r>
            <a:r>
              <a:rPr kumimoji="1" lang="ja-JP" altLang="en-US" sz="1400">
                <a:solidFill>
                  <a:srgbClr val="606060"/>
                </a:solidFill>
                <a:latin typeface="Yu Gothic" panose="020B0400000000000000" pitchFamily="50" charset="-128"/>
                <a:ea typeface="Yu Gothic" panose="020B0400000000000000" pitchFamily="50" charset="-128"/>
              </a:rPr>
              <a:t>）、</a:t>
            </a:r>
            <a:r>
              <a:rPr kumimoji="1" lang="en-US" altLang="ja-JP" sz="1400">
                <a:solidFill>
                  <a:srgbClr val="606060"/>
                </a:solidFill>
                <a:latin typeface="Yu Gothic" panose="020B0400000000000000" pitchFamily="50" charset="-128"/>
                <a:ea typeface="Yu Gothic" panose="020B0400000000000000" pitchFamily="50" charset="-128"/>
              </a:rPr>
              <a:t>Takada and Toda</a:t>
            </a:r>
            <a:r>
              <a:rPr kumimoji="1" lang="ja-JP" altLang="en-US" sz="1400">
                <a:solidFill>
                  <a:srgbClr val="606060"/>
                </a:solidFill>
                <a:latin typeface="Yu Gothic" panose="020B0400000000000000" pitchFamily="50" charset="-128"/>
                <a:ea typeface="Yu Gothic" panose="020B0400000000000000" pitchFamily="50" charset="-128"/>
              </a:rPr>
              <a:t>（</a:t>
            </a:r>
            <a:r>
              <a:rPr kumimoji="1" lang="en-US" altLang="ja-JP" sz="1400">
                <a:solidFill>
                  <a:srgbClr val="606060"/>
                </a:solidFill>
                <a:latin typeface="Yu Gothic" panose="020B0400000000000000" pitchFamily="50" charset="-128"/>
                <a:ea typeface="Yu Gothic" panose="020B0400000000000000" pitchFamily="50" charset="-128"/>
              </a:rPr>
              <a:t>2024</a:t>
            </a:r>
            <a:r>
              <a:rPr kumimoji="1" lang="ja-JP" altLang="en-US" sz="1400">
                <a:solidFill>
                  <a:srgbClr val="606060"/>
                </a:solidFill>
                <a:latin typeface="Yu Gothic" panose="020B0400000000000000" pitchFamily="50" charset="-128"/>
                <a:ea typeface="Yu Gothic" panose="020B0400000000000000" pitchFamily="50" charset="-128"/>
              </a:rPr>
              <a:t>）</a:t>
            </a:r>
          </a:p>
        </p:txBody>
      </p:sp>
    </p:spTree>
    <p:extLst>
      <p:ext uri="{BB962C8B-B14F-4D97-AF65-F5344CB8AC3E}">
        <p14:creationId xmlns:p14="http://schemas.microsoft.com/office/powerpoint/2010/main" val="236880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095F48B-2C1D-796A-693F-F558D67BEB13}"/>
              </a:ext>
            </a:extLst>
          </p:cNvPr>
          <p:cNvSpPr txBox="1"/>
          <p:nvPr/>
        </p:nvSpPr>
        <p:spPr>
          <a:xfrm>
            <a:off x="685800" y="457200"/>
            <a:ext cx="10858500" cy="492443"/>
          </a:xfrm>
          <a:prstGeom prst="rect">
            <a:avLst/>
          </a:prstGeom>
          <a:noFill/>
        </p:spPr>
        <p:txBody>
          <a:bodyPr vert="horz" wrap="square" lIns="0" tIns="0" rIns="0" bIns="0" rtlCol="0">
            <a:spAutoFit/>
          </a:bodyPr>
          <a:lstStyle/>
          <a:p>
            <a:r>
              <a:rPr kumimoji="1" lang="ja-JP" altLang="en-US" sz="3200" b="1">
                <a:solidFill>
                  <a:srgbClr val="182228"/>
                </a:solidFill>
                <a:latin typeface="Yu Gothic" panose="020B0400000000000000" pitchFamily="50" charset="-128"/>
                <a:ea typeface="Yu Gothic" panose="020B0400000000000000" pitchFamily="50" charset="-128"/>
              </a:rPr>
              <a:t>役職の組合せを、世界全体で推定</a:t>
            </a:r>
          </a:p>
        </p:txBody>
      </p:sp>
      <p:sp>
        <p:nvSpPr>
          <p:cNvPr id="3" name="テキスト ボックス 2">
            <a:extLst>
              <a:ext uri="{FF2B5EF4-FFF2-40B4-BE49-F238E27FC236}">
                <a16:creationId xmlns:a16="http://schemas.microsoft.com/office/drawing/2014/main" id="{A3135396-F18A-8615-14F2-A0520A694534}"/>
              </a:ext>
            </a:extLst>
          </p:cNvPr>
          <p:cNvSpPr txBox="1"/>
          <p:nvPr/>
        </p:nvSpPr>
        <p:spPr>
          <a:xfrm>
            <a:off x="10845800" y="6426200"/>
            <a:ext cx="825500" cy="184666"/>
          </a:xfrm>
          <a:prstGeom prst="rect">
            <a:avLst/>
          </a:prstGeom>
          <a:noFill/>
        </p:spPr>
        <p:txBody>
          <a:bodyPr vert="horz" wrap="square" lIns="0" tIns="0" rIns="0" bIns="0" rtlCol="0">
            <a:spAutoFit/>
          </a:bodyPr>
          <a:lstStyle/>
          <a:p>
            <a:r>
              <a:rPr kumimoji="1" lang="en-US" altLang="ja-JP" sz="1200">
                <a:solidFill>
                  <a:srgbClr val="606060"/>
                </a:solidFill>
                <a:latin typeface="Yu Gothic" panose="020B0400000000000000" pitchFamily="50" charset="-128"/>
                <a:ea typeface="Yu Gothic" panose="020B0400000000000000" pitchFamily="50" charset="-128"/>
              </a:rPr>
              <a:t>3 / 5</a:t>
            </a:r>
            <a:endParaRPr kumimoji="1" lang="ja-JP" altLang="en-US" sz="1200">
              <a:solidFill>
                <a:srgbClr val="606060"/>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55C88EA7-C642-B63C-57DD-211D19D70A58}"/>
              </a:ext>
            </a:extLst>
          </p:cNvPr>
          <p:cNvSpPr txBox="1"/>
          <p:nvPr/>
        </p:nvSpPr>
        <p:spPr>
          <a:xfrm>
            <a:off x="685800" y="1663700"/>
            <a:ext cx="4889500" cy="677108"/>
          </a:xfrm>
          <a:prstGeom prst="rect">
            <a:avLst/>
          </a:prstGeom>
          <a:noFill/>
        </p:spPr>
        <p:txBody>
          <a:bodyPr vert="horz" wrap="square" lIns="0" tIns="0" rIns="0" bIns="0" rtlCol="0">
            <a:spAutoFit/>
          </a:bodyPr>
          <a:lstStyle/>
          <a:p>
            <a:r>
              <a:rPr kumimoji="1" lang="en-US" altLang="ja-JP" sz="4400" b="1">
                <a:solidFill>
                  <a:srgbClr val="00A080"/>
                </a:solidFill>
                <a:latin typeface="Yu Gothic" panose="020B0400000000000000" pitchFamily="50" charset="-128"/>
                <a:ea typeface="Yu Gothic" panose="020B0400000000000000" pitchFamily="50" charset="-128"/>
              </a:rPr>
              <a:t>24 </a:t>
            </a:r>
            <a:r>
              <a:rPr kumimoji="1" lang="ja-JP" altLang="en-US" sz="4400" b="1">
                <a:solidFill>
                  <a:srgbClr val="00A080"/>
                </a:solidFill>
                <a:latin typeface="Yu Gothic" panose="020B0400000000000000" pitchFamily="50" charset="-128"/>
                <a:ea typeface="Yu Gothic" panose="020B0400000000000000" pitchFamily="50" charset="-128"/>
              </a:rPr>
              <a:t>世界</a:t>
            </a:r>
          </a:p>
        </p:txBody>
      </p:sp>
      <p:sp>
        <p:nvSpPr>
          <p:cNvPr id="5" name="テキスト ボックス 4">
            <a:extLst>
              <a:ext uri="{FF2B5EF4-FFF2-40B4-BE49-F238E27FC236}">
                <a16:creationId xmlns:a16="http://schemas.microsoft.com/office/drawing/2014/main" id="{71272F66-2EAA-D4EF-E04F-78FD96F7EDA4}"/>
              </a:ext>
            </a:extLst>
          </p:cNvPr>
          <p:cNvSpPr txBox="1"/>
          <p:nvPr/>
        </p:nvSpPr>
        <p:spPr>
          <a:xfrm>
            <a:off x="6400800" y="1663700"/>
            <a:ext cx="4889500" cy="677108"/>
          </a:xfrm>
          <a:prstGeom prst="rect">
            <a:avLst/>
          </a:prstGeom>
          <a:noFill/>
        </p:spPr>
        <p:txBody>
          <a:bodyPr vert="horz" wrap="square" lIns="0" tIns="0" rIns="0" bIns="0" rtlCol="0">
            <a:spAutoFit/>
          </a:bodyPr>
          <a:lstStyle/>
          <a:p>
            <a:r>
              <a:rPr kumimoji="1" lang="en-US" altLang="ja-JP" sz="4400" b="1">
                <a:solidFill>
                  <a:srgbClr val="00A080"/>
                </a:solidFill>
                <a:latin typeface="Yu Gothic" panose="020B0400000000000000" pitchFamily="50" charset="-128"/>
                <a:ea typeface="Yu Gothic" panose="020B0400000000000000" pitchFamily="50" charset="-128"/>
              </a:rPr>
              <a:t>60 </a:t>
            </a:r>
            <a:r>
              <a:rPr kumimoji="1" lang="ja-JP" altLang="en-US" sz="4400" b="1">
                <a:solidFill>
                  <a:srgbClr val="00A080"/>
                </a:solidFill>
                <a:latin typeface="Yu Gothic" panose="020B0400000000000000" pitchFamily="50" charset="-128"/>
                <a:ea typeface="Yu Gothic" panose="020B0400000000000000" pitchFamily="50" charset="-128"/>
              </a:rPr>
              <a:t>世界</a:t>
            </a:r>
          </a:p>
        </p:txBody>
      </p:sp>
      <p:sp>
        <p:nvSpPr>
          <p:cNvPr id="6" name="テキスト ボックス 5">
            <a:extLst>
              <a:ext uri="{FF2B5EF4-FFF2-40B4-BE49-F238E27FC236}">
                <a16:creationId xmlns:a16="http://schemas.microsoft.com/office/drawing/2014/main" id="{93DD30AD-025C-6569-3117-7C0EC4045D4A}"/>
              </a:ext>
            </a:extLst>
          </p:cNvPr>
          <p:cNvSpPr txBox="1"/>
          <p:nvPr/>
        </p:nvSpPr>
        <p:spPr>
          <a:xfrm>
            <a:off x="685800" y="2641600"/>
            <a:ext cx="4889500" cy="353943"/>
          </a:xfrm>
          <a:prstGeom prst="rect">
            <a:avLst/>
          </a:prstGeom>
          <a:noFill/>
        </p:spPr>
        <p:txBody>
          <a:bodyPr vert="horz" wrap="square" lIns="0" tIns="0" rIns="0" bIns="0" rtlCol="0">
            <a:spAutoFit/>
          </a:bodyPr>
          <a:lstStyle/>
          <a:p>
            <a:r>
              <a:rPr kumimoji="1" lang="ja-JP" altLang="en-US" sz="2300">
                <a:solidFill>
                  <a:srgbClr val="182228"/>
                </a:solidFill>
                <a:latin typeface="Yu Gothic" panose="020B0400000000000000" pitchFamily="50" charset="-128"/>
                <a:ea typeface="Yu Gothic" panose="020B0400000000000000" pitchFamily="50" charset="-128"/>
              </a:rPr>
              <a:t>村人の自己視点</a:t>
            </a:r>
          </a:p>
        </p:txBody>
      </p:sp>
      <p:sp>
        <p:nvSpPr>
          <p:cNvPr id="7" name="テキスト ボックス 6">
            <a:extLst>
              <a:ext uri="{FF2B5EF4-FFF2-40B4-BE49-F238E27FC236}">
                <a16:creationId xmlns:a16="http://schemas.microsoft.com/office/drawing/2014/main" id="{C3DB1E72-3BE5-60DA-8029-71F110AD80C2}"/>
              </a:ext>
            </a:extLst>
          </p:cNvPr>
          <p:cNvSpPr txBox="1"/>
          <p:nvPr/>
        </p:nvSpPr>
        <p:spPr>
          <a:xfrm>
            <a:off x="6400800" y="2641600"/>
            <a:ext cx="4889500" cy="353943"/>
          </a:xfrm>
          <a:prstGeom prst="rect">
            <a:avLst/>
          </a:prstGeom>
          <a:noFill/>
        </p:spPr>
        <p:txBody>
          <a:bodyPr vert="horz" wrap="square" lIns="0" tIns="0" rIns="0" bIns="0" rtlCol="0">
            <a:spAutoFit/>
          </a:bodyPr>
          <a:lstStyle/>
          <a:p>
            <a:r>
              <a:rPr kumimoji="1" lang="ja-JP" altLang="en-US" sz="2300">
                <a:solidFill>
                  <a:srgbClr val="182228"/>
                </a:solidFill>
                <a:latin typeface="Yu Gothic" panose="020B0400000000000000" pitchFamily="50" charset="-128"/>
                <a:ea typeface="Yu Gothic" panose="020B0400000000000000" pitchFamily="50" charset="-128"/>
              </a:rPr>
              <a:t>公開情報だけの視点</a:t>
            </a:r>
          </a:p>
        </p:txBody>
      </p:sp>
      <p:graphicFrame>
        <p:nvGraphicFramePr>
          <p:cNvPr id="8" name="表 7">
            <a:extLst>
              <a:ext uri="{FF2B5EF4-FFF2-40B4-BE49-F238E27FC236}">
                <a16:creationId xmlns:a16="http://schemas.microsoft.com/office/drawing/2014/main" id="{765F19DC-0205-F1AB-D949-747598C9F583}"/>
              </a:ext>
            </a:extLst>
          </p:cNvPr>
          <p:cNvGraphicFramePr>
            <a:graphicFrameLocks noGrp="1"/>
          </p:cNvGraphicFramePr>
          <p:nvPr>
            <p:extLst>
              <p:ext uri="{D42A27DB-BD31-4B8C-83A1-F6EECF244321}">
                <p14:modId xmlns:p14="http://schemas.microsoft.com/office/powerpoint/2010/main" val="8422349"/>
              </p:ext>
            </p:extLst>
          </p:nvPr>
        </p:nvGraphicFramePr>
        <p:xfrm>
          <a:off x="685800" y="3479800"/>
          <a:ext cx="10820400" cy="2019300"/>
        </p:xfrm>
        <a:graphic>
          <a:graphicData uri="http://schemas.openxmlformats.org/drawingml/2006/table">
            <a:tbl>
              <a:tblPr firstRow="1" bandRow="1">
                <a:tableStyleId>{5C22544A-7EE6-4342-B048-85BDC9FD1C3A}</a:tableStyleId>
              </a:tblPr>
              <a:tblGrid>
                <a:gridCol w="5588000">
                  <a:extLst>
                    <a:ext uri="{9D8B030D-6E8A-4147-A177-3AD203B41FA5}">
                      <a16:colId xmlns:a16="http://schemas.microsoft.com/office/drawing/2014/main" val="910730207"/>
                    </a:ext>
                  </a:extLst>
                </a:gridCol>
                <a:gridCol w="5232400">
                  <a:extLst>
                    <a:ext uri="{9D8B030D-6E8A-4147-A177-3AD203B41FA5}">
                      <a16:colId xmlns:a16="http://schemas.microsoft.com/office/drawing/2014/main" val="1226714079"/>
                    </a:ext>
                  </a:extLst>
                </a:gridCol>
              </a:tblGrid>
              <a:tr h="673100">
                <a:tc>
                  <a:txBody>
                    <a:bodyPr/>
                    <a:lstStyle/>
                    <a:p>
                      <a:r>
                        <a:rPr kumimoji="1" lang="ja-JP" altLang="en-US" sz="2000">
                          <a:solidFill>
                            <a:srgbClr val="FFFFFF"/>
                          </a:solidFill>
                          <a:latin typeface="Yu Gothic" panose="020B0400000000000000" pitchFamily="50" charset="-128"/>
                          <a:ea typeface="Yu Gothic" panose="020B0400000000000000" pitchFamily="50" charset="-128"/>
                        </a:rPr>
                        <a:t>入力</a:t>
                      </a:r>
                    </a:p>
                  </a:txBody>
                  <a:tcPr marL="177800" marR="127000" anchor="ctr">
                    <a:solidFill>
                      <a:srgbClr val="182228"/>
                    </a:solidFill>
                  </a:tcPr>
                </a:tc>
                <a:tc>
                  <a:txBody>
                    <a:bodyPr/>
                    <a:lstStyle/>
                    <a:p>
                      <a:r>
                        <a:rPr kumimoji="1" lang="ja-JP" altLang="en-US" sz="2000">
                          <a:solidFill>
                            <a:srgbClr val="FFFFFF"/>
                          </a:solidFill>
                          <a:latin typeface="Yu Gothic" panose="020B0400000000000000" pitchFamily="50" charset="-128"/>
                          <a:ea typeface="Yu Gothic" panose="020B0400000000000000" pitchFamily="50" charset="-128"/>
                        </a:rPr>
                        <a:t>計算上の扱い</a:t>
                      </a:r>
                    </a:p>
                  </a:txBody>
                  <a:tcPr marL="177800" marR="127000" anchor="ctr">
                    <a:solidFill>
                      <a:srgbClr val="182228"/>
                    </a:solidFill>
                  </a:tcPr>
                </a:tc>
                <a:extLst>
                  <a:ext uri="{0D108BD9-81ED-4DB2-BD59-A6C34878D82A}">
                    <a16:rowId xmlns:a16="http://schemas.microsoft.com/office/drawing/2014/main" val="471307184"/>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自己占い・確認された襲撃死</a:t>
                      </a:r>
                    </a:p>
                  </a:txBody>
                  <a:tcPr marL="177800" marR="127000" anchor="ctr">
                    <a:solidFill>
                      <a:srgbClr val="F5F5F5"/>
                    </a:solidFill>
                  </a:tcPr>
                </a:tc>
                <a:tc>
                  <a:txBody>
                    <a:bodyPr/>
                    <a:lstStyle/>
                    <a:p>
                      <a:r>
                        <a:rPr kumimoji="1" lang="ja-JP" altLang="en-US" sz="2000">
                          <a:solidFill>
                            <a:srgbClr val="182228"/>
                          </a:solidFill>
                          <a:latin typeface="Yu Gothic" panose="020B0400000000000000" pitchFamily="50" charset="-128"/>
                          <a:ea typeface="Yu Gothic" panose="020B0400000000000000" pitchFamily="50" charset="-128"/>
                        </a:rPr>
                        <a:t>ハード制約で世界を除外</a:t>
                      </a:r>
                    </a:p>
                  </a:txBody>
                  <a:tcPr marL="177800" marR="127000" anchor="ctr">
                    <a:solidFill>
                      <a:srgbClr val="F5F5F5"/>
                    </a:solidFill>
                  </a:tcPr>
                </a:tc>
                <a:extLst>
                  <a:ext uri="{0D108BD9-81ED-4DB2-BD59-A6C34878D82A}">
                    <a16:rowId xmlns:a16="http://schemas.microsoft.com/office/drawing/2014/main" val="3091166019"/>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他者の</a:t>
                      </a:r>
                      <a:r>
                        <a:rPr kumimoji="1" lang="en-US" altLang="ja-JP" sz="2000">
                          <a:solidFill>
                            <a:srgbClr val="182228"/>
                          </a:solidFill>
                          <a:latin typeface="Yu Gothic" panose="020B0400000000000000" pitchFamily="50" charset="-128"/>
                          <a:ea typeface="Yu Gothic" panose="020B0400000000000000" pitchFamily="50" charset="-128"/>
                        </a:rPr>
                        <a:t>CO</a:t>
                      </a:r>
                      <a:r>
                        <a:rPr kumimoji="1" lang="ja-JP" altLang="en-US" sz="2000">
                          <a:solidFill>
                            <a:srgbClr val="182228"/>
                          </a:solidFill>
                          <a:latin typeface="Yu Gothic" panose="020B0400000000000000" pitchFamily="50" charset="-128"/>
                          <a:ea typeface="Yu Gothic" panose="020B0400000000000000" pitchFamily="50" charset="-128"/>
                        </a:rPr>
                        <a:t>・占い報告・投票</a:t>
                      </a:r>
                    </a:p>
                  </a:txBody>
                  <a:tcPr marL="177800" marR="127000" anchor="ctr">
                    <a:solidFill>
                      <a:srgbClr val="F5F5F5"/>
                    </a:solidFill>
                  </a:tcPr>
                </a:tc>
                <a:tc>
                  <a:txBody>
                    <a:bodyPr/>
                    <a:lstStyle/>
                    <a:p>
                      <a:r>
                        <a:rPr kumimoji="1" lang="ja-JP" altLang="en-US" sz="2000">
                          <a:solidFill>
                            <a:srgbClr val="182228"/>
                          </a:solidFill>
                          <a:latin typeface="Yu Gothic" panose="020B0400000000000000" pitchFamily="50" charset="-128"/>
                          <a:ea typeface="Yu Gothic" panose="020B0400000000000000" pitchFamily="50" charset="-128"/>
                        </a:rPr>
                        <a:t>ソフト尤度で重みを更新</a:t>
                      </a:r>
                    </a:p>
                  </a:txBody>
                  <a:tcPr marL="177800" marR="127000" anchor="ctr">
                    <a:solidFill>
                      <a:srgbClr val="F5F5F5"/>
                    </a:solidFill>
                  </a:tcPr>
                </a:tc>
                <a:extLst>
                  <a:ext uri="{0D108BD9-81ED-4DB2-BD59-A6C34878D82A}">
                    <a16:rowId xmlns:a16="http://schemas.microsoft.com/office/drawing/2014/main" val="4021071365"/>
                  </a:ext>
                </a:extLst>
              </a:tr>
            </a:tbl>
          </a:graphicData>
        </a:graphic>
      </p:graphicFrame>
      <p:sp>
        <p:nvSpPr>
          <p:cNvPr id="9" name="テキスト ボックス 8">
            <a:extLst>
              <a:ext uri="{FF2B5EF4-FFF2-40B4-BE49-F238E27FC236}">
                <a16:creationId xmlns:a16="http://schemas.microsoft.com/office/drawing/2014/main" id="{0C3BF2A1-93EF-7EC0-F38D-AA63627BDCC7}"/>
              </a:ext>
            </a:extLst>
          </p:cNvPr>
          <p:cNvSpPr txBox="1"/>
          <p:nvPr/>
        </p:nvSpPr>
        <p:spPr>
          <a:xfrm>
            <a:off x="685800" y="5867400"/>
            <a:ext cx="10795000" cy="307777"/>
          </a:xfrm>
          <a:prstGeom prst="rect">
            <a:avLst/>
          </a:prstGeom>
          <a:noFill/>
        </p:spPr>
        <p:txBody>
          <a:bodyPr vert="horz" wrap="square" lIns="0" tIns="0" rIns="0" bIns="0" rtlCol="0">
            <a:spAutoFit/>
          </a:bodyPr>
          <a:lstStyle/>
          <a:p>
            <a:r>
              <a:rPr kumimoji="1" lang="ja-JP" altLang="en-US" sz="2000">
                <a:solidFill>
                  <a:srgbClr val="182228"/>
                </a:solidFill>
                <a:latin typeface="Yu Gothic" panose="020B0400000000000000" pitchFamily="50" charset="-128"/>
                <a:ea typeface="Yu Gothic" panose="020B0400000000000000" pitchFamily="50" charset="-128"/>
              </a:rPr>
              <a:t>役職人数を保存する共同分布。投票は得点最大、同点は固定順。</a:t>
            </a:r>
          </a:p>
        </p:txBody>
      </p:sp>
    </p:spTree>
    <p:extLst>
      <p:ext uri="{BB962C8B-B14F-4D97-AF65-F5344CB8AC3E}">
        <p14:creationId xmlns:p14="http://schemas.microsoft.com/office/powerpoint/2010/main" val="3714349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0AFF8AA-6428-58CF-EC47-B47D191C5602}"/>
              </a:ext>
            </a:extLst>
          </p:cNvPr>
          <p:cNvSpPr txBox="1"/>
          <p:nvPr/>
        </p:nvSpPr>
        <p:spPr>
          <a:xfrm>
            <a:off x="685800" y="457200"/>
            <a:ext cx="10858500" cy="492443"/>
          </a:xfrm>
          <a:prstGeom prst="rect">
            <a:avLst/>
          </a:prstGeom>
          <a:noFill/>
        </p:spPr>
        <p:txBody>
          <a:bodyPr vert="horz" wrap="square" lIns="0" tIns="0" rIns="0" bIns="0" rtlCol="0">
            <a:spAutoFit/>
          </a:bodyPr>
          <a:lstStyle/>
          <a:p>
            <a:r>
              <a:rPr kumimoji="1" lang="ja-JP" altLang="en-US" sz="3200" b="1">
                <a:solidFill>
                  <a:srgbClr val="182228"/>
                </a:solidFill>
                <a:latin typeface="Yu Gothic" panose="020B0400000000000000" pitchFamily="50" charset="-128"/>
                <a:ea typeface="Yu Gothic" panose="020B0400000000000000" pitchFamily="50" charset="-128"/>
              </a:rPr>
              <a:t>実装で見つけた問題と設計判断</a:t>
            </a:r>
          </a:p>
        </p:txBody>
      </p:sp>
      <p:sp>
        <p:nvSpPr>
          <p:cNvPr id="3" name="テキスト ボックス 2">
            <a:extLst>
              <a:ext uri="{FF2B5EF4-FFF2-40B4-BE49-F238E27FC236}">
                <a16:creationId xmlns:a16="http://schemas.microsoft.com/office/drawing/2014/main" id="{50DE1361-7997-9E33-549C-5EFAE97B736E}"/>
              </a:ext>
            </a:extLst>
          </p:cNvPr>
          <p:cNvSpPr txBox="1"/>
          <p:nvPr/>
        </p:nvSpPr>
        <p:spPr>
          <a:xfrm>
            <a:off x="10845800" y="6426200"/>
            <a:ext cx="825500" cy="184666"/>
          </a:xfrm>
          <a:prstGeom prst="rect">
            <a:avLst/>
          </a:prstGeom>
          <a:noFill/>
        </p:spPr>
        <p:txBody>
          <a:bodyPr vert="horz" wrap="square" lIns="0" tIns="0" rIns="0" bIns="0" rtlCol="0">
            <a:spAutoFit/>
          </a:bodyPr>
          <a:lstStyle/>
          <a:p>
            <a:r>
              <a:rPr kumimoji="1" lang="en-US" altLang="ja-JP" sz="1200">
                <a:solidFill>
                  <a:srgbClr val="606060"/>
                </a:solidFill>
                <a:latin typeface="Yu Gothic" panose="020B0400000000000000" pitchFamily="50" charset="-128"/>
                <a:ea typeface="Yu Gothic" panose="020B0400000000000000" pitchFamily="50" charset="-128"/>
              </a:rPr>
              <a:t>4 / 5</a:t>
            </a:r>
            <a:endParaRPr kumimoji="1" lang="ja-JP" altLang="en-US" sz="1200">
              <a:solidFill>
                <a:srgbClr val="606060"/>
              </a:solidFill>
              <a:latin typeface="Yu Gothic" panose="020B0400000000000000" pitchFamily="50" charset="-128"/>
              <a:ea typeface="Yu Gothic" panose="020B0400000000000000" pitchFamily="50" charset="-128"/>
            </a:endParaRPr>
          </a:p>
        </p:txBody>
      </p:sp>
      <p:graphicFrame>
        <p:nvGraphicFramePr>
          <p:cNvPr id="4" name="表 3">
            <a:extLst>
              <a:ext uri="{FF2B5EF4-FFF2-40B4-BE49-F238E27FC236}">
                <a16:creationId xmlns:a16="http://schemas.microsoft.com/office/drawing/2014/main" id="{AAB051A6-316E-626A-700F-8ECB241EA6AE}"/>
              </a:ext>
            </a:extLst>
          </p:cNvPr>
          <p:cNvGraphicFramePr>
            <a:graphicFrameLocks noGrp="1"/>
          </p:cNvGraphicFramePr>
          <p:nvPr>
            <p:extLst>
              <p:ext uri="{D42A27DB-BD31-4B8C-83A1-F6EECF244321}">
                <p14:modId xmlns:p14="http://schemas.microsoft.com/office/powerpoint/2010/main" val="18194263"/>
              </p:ext>
            </p:extLst>
          </p:nvPr>
        </p:nvGraphicFramePr>
        <p:xfrm>
          <a:off x="685800" y="1879600"/>
          <a:ext cx="10820400" cy="2692400"/>
        </p:xfrm>
        <a:graphic>
          <a:graphicData uri="http://schemas.openxmlformats.org/drawingml/2006/table">
            <a:tbl>
              <a:tblPr firstRow="1" bandRow="1">
                <a:tableStyleId>{5C22544A-7EE6-4342-B048-85BDC9FD1C3A}</a:tableStyleId>
              </a:tblPr>
              <a:tblGrid>
                <a:gridCol w="5880100">
                  <a:extLst>
                    <a:ext uri="{9D8B030D-6E8A-4147-A177-3AD203B41FA5}">
                      <a16:colId xmlns:a16="http://schemas.microsoft.com/office/drawing/2014/main" val="341850319"/>
                    </a:ext>
                  </a:extLst>
                </a:gridCol>
                <a:gridCol w="4940300">
                  <a:extLst>
                    <a:ext uri="{9D8B030D-6E8A-4147-A177-3AD203B41FA5}">
                      <a16:colId xmlns:a16="http://schemas.microsoft.com/office/drawing/2014/main" val="1249743697"/>
                    </a:ext>
                  </a:extLst>
                </a:gridCol>
              </a:tblGrid>
              <a:tr h="673100">
                <a:tc>
                  <a:txBody>
                    <a:bodyPr/>
                    <a:lstStyle/>
                    <a:p>
                      <a:r>
                        <a:rPr kumimoji="1" lang="ja-JP" altLang="en-US" sz="2000">
                          <a:solidFill>
                            <a:srgbClr val="FFFFFF"/>
                          </a:solidFill>
                          <a:latin typeface="Yu Gothic" panose="020B0400000000000000" pitchFamily="50" charset="-128"/>
                          <a:ea typeface="Yu Gothic" panose="020B0400000000000000" pitchFamily="50" charset="-128"/>
                        </a:rPr>
                        <a:t>見つかった問題</a:t>
                      </a:r>
                    </a:p>
                  </a:txBody>
                  <a:tcPr marL="177800" marR="127000" anchor="ctr">
                    <a:solidFill>
                      <a:srgbClr val="182228"/>
                    </a:solidFill>
                  </a:tcPr>
                </a:tc>
                <a:tc>
                  <a:txBody>
                    <a:bodyPr/>
                    <a:lstStyle/>
                    <a:p>
                      <a:r>
                        <a:rPr kumimoji="1" lang="ja-JP" altLang="en-US" sz="2000">
                          <a:solidFill>
                            <a:srgbClr val="FFFFFF"/>
                          </a:solidFill>
                          <a:latin typeface="Yu Gothic" panose="020B0400000000000000" pitchFamily="50" charset="-128"/>
                          <a:ea typeface="Yu Gothic" panose="020B0400000000000000" pitchFamily="50" charset="-128"/>
                        </a:rPr>
                        <a:t>採用した対策</a:t>
                      </a:r>
                    </a:p>
                  </a:txBody>
                  <a:tcPr marL="177800" marR="127000" anchor="ctr">
                    <a:solidFill>
                      <a:srgbClr val="182228"/>
                    </a:solidFill>
                  </a:tcPr>
                </a:tc>
                <a:extLst>
                  <a:ext uri="{0D108BD9-81ED-4DB2-BD59-A6C34878D82A}">
                    <a16:rowId xmlns:a16="http://schemas.microsoft.com/office/drawing/2014/main" val="3446566087"/>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説明の数値から私有結果が漏れる</a:t>
                      </a:r>
                    </a:p>
                  </a:txBody>
                  <a:tcPr marL="177800" marR="127000" anchor="ctr">
                    <a:solidFill>
                      <a:srgbClr val="F5F5F5"/>
                    </a:solidFill>
                  </a:tcPr>
                </a:tc>
                <a:tc>
                  <a:txBody>
                    <a:bodyPr/>
                    <a:lstStyle/>
                    <a:p>
                      <a:r>
                        <a:rPr kumimoji="1" lang="ja-JP" altLang="en-US" sz="2000">
                          <a:solidFill>
                            <a:srgbClr val="182228"/>
                          </a:solidFill>
                          <a:latin typeface="Yu Gothic" panose="020B0400000000000000" pitchFamily="50" charset="-128"/>
                          <a:ea typeface="Yu Gothic" panose="020B0400000000000000" pitchFamily="50" charset="-128"/>
                        </a:rPr>
                        <a:t>公開履歴で分布ごと再計算</a:t>
                      </a:r>
                    </a:p>
                  </a:txBody>
                  <a:tcPr marL="177800" marR="127000" anchor="ctr">
                    <a:solidFill>
                      <a:srgbClr val="F5F5F5"/>
                    </a:solidFill>
                  </a:tcPr>
                </a:tc>
                <a:extLst>
                  <a:ext uri="{0D108BD9-81ED-4DB2-BD59-A6C34878D82A}">
                    <a16:rowId xmlns:a16="http://schemas.microsoft.com/office/drawing/2014/main" val="2157854969"/>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自分の宣言で確信を増幅する</a:t>
                      </a:r>
                    </a:p>
                  </a:txBody>
                  <a:tcPr marL="177800" marR="127000" anchor="ctr">
                    <a:solidFill>
                      <a:srgbClr val="F5F5F5"/>
                    </a:solidFill>
                  </a:tcPr>
                </a:tc>
                <a:tc>
                  <a:txBody>
                    <a:bodyPr/>
                    <a:lstStyle/>
                    <a:p>
                      <a:r>
                        <a:rPr kumimoji="1" lang="ja-JP" altLang="en-US" sz="2000">
                          <a:solidFill>
                            <a:srgbClr val="182228"/>
                          </a:solidFill>
                          <a:latin typeface="Yu Gothic" panose="020B0400000000000000" pitchFamily="50" charset="-128"/>
                          <a:ea typeface="Yu Gothic" panose="020B0400000000000000" pitchFamily="50" charset="-128"/>
                        </a:rPr>
                        <a:t>自己行動を追加証拠にしない</a:t>
                      </a:r>
                    </a:p>
                  </a:txBody>
                  <a:tcPr marL="177800" marR="127000" anchor="ctr">
                    <a:solidFill>
                      <a:srgbClr val="F5F5F5"/>
                    </a:solidFill>
                  </a:tcPr>
                </a:tc>
                <a:extLst>
                  <a:ext uri="{0D108BD9-81ED-4DB2-BD59-A6C34878D82A}">
                    <a16:rowId xmlns:a16="http://schemas.microsoft.com/office/drawing/2014/main" val="610780059"/>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説明の根拠を反論・検査できない</a:t>
                      </a:r>
                    </a:p>
                  </a:txBody>
                  <a:tcPr marL="177800" marR="127000" anchor="ctr">
                    <a:solidFill>
                      <a:srgbClr val="F5F5F5"/>
                    </a:solidFill>
                  </a:tcPr>
                </a:tc>
                <a:tc>
                  <a:txBody>
                    <a:bodyPr/>
                    <a:lstStyle/>
                    <a:p>
                      <a:r>
                        <a:rPr kumimoji="1" lang="ja-JP" altLang="en-US" sz="2000">
                          <a:solidFill>
                            <a:srgbClr val="182228"/>
                          </a:solidFill>
                          <a:latin typeface="Yu Gothic" panose="020B0400000000000000" pitchFamily="50" charset="-128"/>
                          <a:ea typeface="Yu Gothic" panose="020B0400000000000000" pitchFamily="50" charset="-128"/>
                        </a:rPr>
                        <a:t>証拠</a:t>
                      </a:r>
                      <a:r>
                        <a:rPr kumimoji="1" lang="en-US" altLang="ja-JP" sz="2000">
                          <a:solidFill>
                            <a:srgbClr val="182228"/>
                          </a:solidFill>
                          <a:latin typeface="Yu Gothic" panose="020B0400000000000000" pitchFamily="50" charset="-128"/>
                          <a:ea typeface="Yu Gothic" panose="020B0400000000000000" pitchFamily="50" charset="-128"/>
                        </a:rPr>
                        <a:t>ID</a:t>
                      </a:r>
                      <a:r>
                        <a:rPr kumimoji="1" lang="ja-JP" altLang="en-US" sz="2000">
                          <a:solidFill>
                            <a:srgbClr val="182228"/>
                          </a:solidFill>
                          <a:latin typeface="Yu Gothic" panose="020B0400000000000000" pitchFamily="50" charset="-128"/>
                          <a:ea typeface="Yu Gothic" panose="020B0400000000000000" pitchFamily="50" charset="-128"/>
                        </a:rPr>
                        <a:t>・推論グラフ・除外再生</a:t>
                      </a:r>
                    </a:p>
                  </a:txBody>
                  <a:tcPr marL="177800" marR="127000" anchor="ctr">
                    <a:solidFill>
                      <a:srgbClr val="F5F5F5"/>
                    </a:solidFill>
                  </a:tcPr>
                </a:tc>
                <a:extLst>
                  <a:ext uri="{0D108BD9-81ED-4DB2-BD59-A6C34878D82A}">
                    <a16:rowId xmlns:a16="http://schemas.microsoft.com/office/drawing/2014/main" val="469553870"/>
                  </a:ext>
                </a:extLst>
              </a:tr>
            </a:tbl>
          </a:graphicData>
        </a:graphic>
      </p:graphicFrame>
      <p:sp>
        <p:nvSpPr>
          <p:cNvPr id="5" name="テキスト ボックス 4">
            <a:extLst>
              <a:ext uri="{FF2B5EF4-FFF2-40B4-BE49-F238E27FC236}">
                <a16:creationId xmlns:a16="http://schemas.microsoft.com/office/drawing/2014/main" id="{16D4F126-0EEF-D178-5BEC-DD0E822257BC}"/>
              </a:ext>
            </a:extLst>
          </p:cNvPr>
          <p:cNvSpPr txBox="1"/>
          <p:nvPr/>
        </p:nvSpPr>
        <p:spPr>
          <a:xfrm>
            <a:off x="685800" y="5092700"/>
            <a:ext cx="4381500" cy="646331"/>
          </a:xfrm>
          <a:prstGeom prst="rect">
            <a:avLst/>
          </a:prstGeom>
          <a:noFill/>
        </p:spPr>
        <p:txBody>
          <a:bodyPr vert="horz" wrap="square" lIns="0" tIns="0" rIns="0" bIns="0" rtlCol="0">
            <a:spAutoFit/>
          </a:bodyPr>
          <a:lstStyle/>
          <a:p>
            <a:r>
              <a:rPr kumimoji="1" lang="en-US" altLang="ja-JP" sz="4200" b="1">
                <a:solidFill>
                  <a:srgbClr val="00A080"/>
                </a:solidFill>
                <a:latin typeface="Yu Gothic" panose="020B0400000000000000" pitchFamily="50" charset="-128"/>
                <a:ea typeface="Yu Gothic" panose="020B0400000000000000" pitchFamily="50" charset="-128"/>
              </a:rPr>
              <a:t>40 </a:t>
            </a:r>
            <a:r>
              <a:rPr kumimoji="1" lang="ja-JP" altLang="en-US" sz="4200" b="1">
                <a:solidFill>
                  <a:srgbClr val="00A080"/>
                </a:solidFill>
                <a:latin typeface="Yu Gothic" panose="020B0400000000000000" pitchFamily="50" charset="-128"/>
                <a:ea typeface="Yu Gothic" panose="020B0400000000000000" pitchFamily="50" charset="-128"/>
              </a:rPr>
              <a:t>テスト</a:t>
            </a:r>
          </a:p>
        </p:txBody>
      </p:sp>
      <p:sp>
        <p:nvSpPr>
          <p:cNvPr id="6" name="テキスト ボックス 5">
            <a:extLst>
              <a:ext uri="{FF2B5EF4-FFF2-40B4-BE49-F238E27FC236}">
                <a16:creationId xmlns:a16="http://schemas.microsoft.com/office/drawing/2014/main" id="{94BC12A1-6618-A674-7E97-A0006136EFEE}"/>
              </a:ext>
            </a:extLst>
          </p:cNvPr>
          <p:cNvSpPr txBox="1"/>
          <p:nvPr/>
        </p:nvSpPr>
        <p:spPr>
          <a:xfrm>
            <a:off x="5156200" y="5118100"/>
            <a:ext cx="6223000" cy="677108"/>
          </a:xfrm>
          <a:prstGeom prst="rect">
            <a:avLst/>
          </a:prstGeom>
          <a:noFill/>
        </p:spPr>
        <p:txBody>
          <a:bodyPr vert="horz" wrap="square" lIns="0" tIns="0" rIns="0" bIns="0" rtlCol="0">
            <a:spAutoFit/>
          </a:bodyPr>
          <a:lstStyle/>
          <a:p>
            <a:r>
              <a:rPr kumimoji="1" lang="ja-JP" altLang="en-US" sz="2200">
                <a:solidFill>
                  <a:srgbClr val="182228"/>
                </a:solidFill>
                <a:latin typeface="Yu Gothic" panose="020B0400000000000000" pitchFamily="50" charset="-128"/>
                <a:ea typeface="Yu Gothic" panose="020B0400000000000000" pitchFamily="50" charset="-128"/>
              </a:rPr>
              <a:t>同一履歴</a:t>
            </a:r>
            <a:r>
              <a:rPr kumimoji="1" lang="en-US" altLang="ja-JP" sz="2200">
                <a:solidFill>
                  <a:srgbClr val="182228"/>
                </a:solidFill>
                <a:latin typeface="Yu Gothic" panose="020B0400000000000000" pitchFamily="50" charset="-128"/>
                <a:ea typeface="Yu Gothic" panose="020B0400000000000000" pitchFamily="50" charset="-128"/>
              </a:rPr>
              <a:t>100</a:t>
            </a:r>
            <a:r>
              <a:rPr kumimoji="1" lang="ja-JP" altLang="en-US" sz="2200">
                <a:solidFill>
                  <a:srgbClr val="182228"/>
                </a:solidFill>
                <a:latin typeface="Yu Gothic" panose="020B0400000000000000" pitchFamily="50" charset="-128"/>
                <a:ea typeface="Yu Gothic" panose="020B0400000000000000" pitchFamily="50" charset="-128"/>
              </a:rPr>
              <a:t>回の再生一致
公開説明全体の非漏洩も検査</a:t>
            </a:r>
          </a:p>
        </p:txBody>
      </p:sp>
    </p:spTree>
    <p:extLst>
      <p:ext uri="{BB962C8B-B14F-4D97-AF65-F5344CB8AC3E}">
        <p14:creationId xmlns:p14="http://schemas.microsoft.com/office/powerpoint/2010/main" val="245740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E2E636F-5747-EB61-DFC5-2CF2C17AA2A5}"/>
              </a:ext>
            </a:extLst>
          </p:cNvPr>
          <p:cNvSpPr txBox="1"/>
          <p:nvPr/>
        </p:nvSpPr>
        <p:spPr>
          <a:xfrm>
            <a:off x="685800" y="457200"/>
            <a:ext cx="10858500" cy="492443"/>
          </a:xfrm>
          <a:prstGeom prst="rect">
            <a:avLst/>
          </a:prstGeom>
          <a:noFill/>
        </p:spPr>
        <p:txBody>
          <a:bodyPr vert="horz" wrap="square" lIns="0" tIns="0" rIns="0" bIns="0" rtlCol="0">
            <a:spAutoFit/>
          </a:bodyPr>
          <a:lstStyle/>
          <a:p>
            <a:r>
              <a:rPr kumimoji="1" lang="ja-JP" altLang="en-US" sz="3200" b="1">
                <a:solidFill>
                  <a:srgbClr val="182228"/>
                </a:solidFill>
                <a:latin typeface="Yu Gothic" panose="020B0400000000000000" pitchFamily="50" charset="-128"/>
                <a:ea typeface="Yu Gothic" panose="020B0400000000000000" pitchFamily="50" charset="-128"/>
              </a:rPr>
              <a:t>動作例と、これから検証すること</a:t>
            </a:r>
          </a:p>
        </p:txBody>
      </p:sp>
      <p:sp>
        <p:nvSpPr>
          <p:cNvPr id="3" name="テキスト ボックス 2">
            <a:extLst>
              <a:ext uri="{FF2B5EF4-FFF2-40B4-BE49-F238E27FC236}">
                <a16:creationId xmlns:a16="http://schemas.microsoft.com/office/drawing/2014/main" id="{1AAEACD9-C47B-E2DD-A227-9CBEA1E232AA}"/>
              </a:ext>
            </a:extLst>
          </p:cNvPr>
          <p:cNvSpPr txBox="1"/>
          <p:nvPr/>
        </p:nvSpPr>
        <p:spPr>
          <a:xfrm>
            <a:off x="10845800" y="6426200"/>
            <a:ext cx="825500" cy="184666"/>
          </a:xfrm>
          <a:prstGeom prst="rect">
            <a:avLst/>
          </a:prstGeom>
          <a:noFill/>
        </p:spPr>
        <p:txBody>
          <a:bodyPr vert="horz" wrap="square" lIns="0" tIns="0" rIns="0" bIns="0" rtlCol="0">
            <a:spAutoFit/>
          </a:bodyPr>
          <a:lstStyle/>
          <a:p>
            <a:r>
              <a:rPr kumimoji="1" lang="en-US" altLang="ja-JP" sz="1200">
                <a:solidFill>
                  <a:srgbClr val="606060"/>
                </a:solidFill>
                <a:latin typeface="Yu Gothic" panose="020B0400000000000000" pitchFamily="50" charset="-128"/>
                <a:ea typeface="Yu Gothic" panose="020B0400000000000000" pitchFamily="50" charset="-128"/>
              </a:rPr>
              <a:t>5 / 5</a:t>
            </a:r>
            <a:endParaRPr kumimoji="1" lang="ja-JP" altLang="en-US" sz="1200">
              <a:solidFill>
                <a:srgbClr val="606060"/>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FB67DC15-98B8-5BEE-CFCA-945ABD7317E7}"/>
              </a:ext>
            </a:extLst>
          </p:cNvPr>
          <p:cNvSpPr txBox="1"/>
          <p:nvPr/>
        </p:nvSpPr>
        <p:spPr>
          <a:xfrm>
            <a:off x="685800" y="1676400"/>
            <a:ext cx="10795000" cy="353943"/>
          </a:xfrm>
          <a:prstGeom prst="rect">
            <a:avLst/>
          </a:prstGeom>
          <a:noFill/>
        </p:spPr>
        <p:txBody>
          <a:bodyPr vert="horz" wrap="square" lIns="0" tIns="0" rIns="0" bIns="0" rtlCol="0">
            <a:spAutoFit/>
          </a:bodyPr>
          <a:lstStyle/>
          <a:p>
            <a:r>
              <a:rPr kumimoji="1" lang="ja-JP" altLang="en-US" sz="2300">
                <a:solidFill>
                  <a:srgbClr val="182228"/>
                </a:solidFill>
                <a:latin typeface="Yu Gothic" panose="020B0400000000000000" pitchFamily="50" charset="-128"/>
                <a:ea typeface="Yu Gothic" panose="020B0400000000000000" pitchFamily="50" charset="-128"/>
              </a:rPr>
              <a:t>合成局面</a:t>
            </a:r>
            <a:r>
              <a:rPr kumimoji="1" lang="en-US" altLang="ja-JP" sz="2300">
                <a:solidFill>
                  <a:srgbClr val="182228"/>
                </a:solidFill>
                <a:latin typeface="Yu Gothic" panose="020B0400000000000000" pitchFamily="50" charset="-128"/>
                <a:ea typeface="Yu Gothic" panose="020B0400000000000000" pitchFamily="50" charset="-128"/>
              </a:rPr>
              <a:t>1</a:t>
            </a:r>
            <a:r>
              <a:rPr kumimoji="1" lang="ja-JP" altLang="en-US" sz="2300">
                <a:solidFill>
                  <a:srgbClr val="182228"/>
                </a:solidFill>
                <a:latin typeface="Yu Gothic" panose="020B0400000000000000" pitchFamily="50" charset="-128"/>
                <a:ea typeface="Yu Gothic" panose="020B0400000000000000" pitchFamily="50" charset="-128"/>
              </a:rPr>
              <a:t>件の再生結果（値が小さいほど良い）</a:t>
            </a:r>
          </a:p>
        </p:txBody>
      </p:sp>
      <p:graphicFrame>
        <p:nvGraphicFramePr>
          <p:cNvPr id="5" name="表 4">
            <a:extLst>
              <a:ext uri="{FF2B5EF4-FFF2-40B4-BE49-F238E27FC236}">
                <a16:creationId xmlns:a16="http://schemas.microsoft.com/office/drawing/2014/main" id="{447C4964-9DE7-26A0-A212-8DF4A60471AD}"/>
              </a:ext>
            </a:extLst>
          </p:cNvPr>
          <p:cNvGraphicFramePr>
            <a:graphicFrameLocks noGrp="1"/>
          </p:cNvGraphicFramePr>
          <p:nvPr>
            <p:extLst>
              <p:ext uri="{D42A27DB-BD31-4B8C-83A1-F6EECF244321}">
                <p14:modId xmlns:p14="http://schemas.microsoft.com/office/powerpoint/2010/main" val="3784989666"/>
              </p:ext>
            </p:extLst>
          </p:nvPr>
        </p:nvGraphicFramePr>
        <p:xfrm>
          <a:off x="685800" y="2590800"/>
          <a:ext cx="10820400" cy="20193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126211906"/>
                    </a:ext>
                  </a:extLst>
                </a:gridCol>
                <a:gridCol w="2349500">
                  <a:extLst>
                    <a:ext uri="{9D8B030D-6E8A-4147-A177-3AD203B41FA5}">
                      <a16:colId xmlns:a16="http://schemas.microsoft.com/office/drawing/2014/main" val="4079050444"/>
                    </a:ext>
                  </a:extLst>
                </a:gridCol>
                <a:gridCol w="2349500">
                  <a:extLst>
                    <a:ext uri="{9D8B030D-6E8A-4147-A177-3AD203B41FA5}">
                      <a16:colId xmlns:a16="http://schemas.microsoft.com/office/drawing/2014/main" val="3716271133"/>
                    </a:ext>
                  </a:extLst>
                </a:gridCol>
                <a:gridCol w="1676400">
                  <a:extLst>
                    <a:ext uri="{9D8B030D-6E8A-4147-A177-3AD203B41FA5}">
                      <a16:colId xmlns:a16="http://schemas.microsoft.com/office/drawing/2014/main" val="867782851"/>
                    </a:ext>
                  </a:extLst>
                </a:gridCol>
              </a:tblGrid>
              <a:tr h="673100">
                <a:tc>
                  <a:txBody>
                    <a:bodyPr/>
                    <a:lstStyle/>
                    <a:p>
                      <a:r>
                        <a:rPr kumimoji="1" lang="ja-JP" altLang="en-US" sz="2000">
                          <a:solidFill>
                            <a:srgbClr val="FFFFFF"/>
                          </a:solidFill>
                          <a:latin typeface="Yu Gothic" panose="020B0400000000000000" pitchFamily="50" charset="-128"/>
                          <a:ea typeface="Yu Gothic" panose="020B0400000000000000" pitchFamily="50" charset="-128"/>
                        </a:rPr>
                        <a:t>条件</a:t>
                      </a:r>
                    </a:p>
                  </a:txBody>
                  <a:tcPr marL="177800" marR="127000" anchor="ctr">
                    <a:solidFill>
                      <a:srgbClr val="182228"/>
                    </a:solidFill>
                  </a:tcPr>
                </a:tc>
                <a:tc>
                  <a:txBody>
                    <a:bodyPr/>
                    <a:lstStyle/>
                    <a:p>
                      <a:r>
                        <a:rPr kumimoji="1" lang="en-US" altLang="ja-JP" sz="2000">
                          <a:solidFill>
                            <a:srgbClr val="FFFFFF"/>
                          </a:solidFill>
                          <a:latin typeface="Yu Gothic" panose="020B0400000000000000" pitchFamily="50" charset="-128"/>
                          <a:ea typeface="Yu Gothic" panose="020B0400000000000000" pitchFamily="50" charset="-128"/>
                        </a:rPr>
                        <a:t>Brier score</a:t>
                      </a:r>
                      <a:endParaRPr kumimoji="1" lang="ja-JP" altLang="en-US" sz="2000">
                        <a:solidFill>
                          <a:srgbClr val="FFFFFF"/>
                        </a:solidFill>
                        <a:latin typeface="Yu Gothic" panose="020B0400000000000000" pitchFamily="50" charset="-128"/>
                        <a:ea typeface="Yu Gothic" panose="020B0400000000000000" pitchFamily="50" charset="-128"/>
                      </a:endParaRPr>
                    </a:p>
                  </a:txBody>
                  <a:tcPr marL="177800" marR="127000" anchor="ctr">
                    <a:solidFill>
                      <a:srgbClr val="182228"/>
                    </a:solidFill>
                  </a:tcPr>
                </a:tc>
                <a:tc>
                  <a:txBody>
                    <a:bodyPr/>
                    <a:lstStyle/>
                    <a:p>
                      <a:r>
                        <a:rPr kumimoji="1" lang="en-US" altLang="ja-JP" sz="2000">
                          <a:solidFill>
                            <a:srgbClr val="FFFFFF"/>
                          </a:solidFill>
                          <a:latin typeface="Yu Gothic" panose="020B0400000000000000" pitchFamily="50" charset="-128"/>
                          <a:ea typeface="Yu Gothic" panose="020B0400000000000000" pitchFamily="50" charset="-128"/>
                        </a:rPr>
                        <a:t>log loss</a:t>
                      </a:r>
                      <a:endParaRPr kumimoji="1" lang="ja-JP" altLang="en-US" sz="2000">
                        <a:solidFill>
                          <a:srgbClr val="FFFFFF"/>
                        </a:solidFill>
                        <a:latin typeface="Yu Gothic" panose="020B0400000000000000" pitchFamily="50" charset="-128"/>
                        <a:ea typeface="Yu Gothic" panose="020B0400000000000000" pitchFamily="50" charset="-128"/>
                      </a:endParaRPr>
                    </a:p>
                  </a:txBody>
                  <a:tcPr marL="177800" marR="127000" anchor="ctr">
                    <a:solidFill>
                      <a:srgbClr val="182228"/>
                    </a:solidFill>
                  </a:tcPr>
                </a:tc>
                <a:tc>
                  <a:txBody>
                    <a:bodyPr/>
                    <a:lstStyle/>
                    <a:p>
                      <a:r>
                        <a:rPr kumimoji="1" lang="ja-JP" altLang="en-US" sz="2000">
                          <a:solidFill>
                            <a:srgbClr val="FFFFFF"/>
                          </a:solidFill>
                          <a:latin typeface="Yu Gothic" panose="020B0400000000000000" pitchFamily="50" charset="-128"/>
                          <a:ea typeface="Yu Gothic" panose="020B0400000000000000" pitchFamily="50" charset="-128"/>
                        </a:rPr>
                        <a:t>投票</a:t>
                      </a:r>
                    </a:p>
                  </a:txBody>
                  <a:tcPr marL="177800" marR="127000" anchor="ctr">
                    <a:solidFill>
                      <a:srgbClr val="182228"/>
                    </a:solidFill>
                  </a:tcPr>
                </a:tc>
                <a:extLst>
                  <a:ext uri="{0D108BD9-81ED-4DB2-BD59-A6C34878D82A}">
                    <a16:rowId xmlns:a16="http://schemas.microsoft.com/office/drawing/2014/main" val="2381104222"/>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ハード制約のみ</a:t>
                      </a: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0.750</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1.386</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02</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extLst>
                  <a:ext uri="{0D108BD9-81ED-4DB2-BD59-A6C34878D82A}">
                    <a16:rowId xmlns:a16="http://schemas.microsoft.com/office/drawing/2014/main" val="3495681690"/>
                  </a:ext>
                </a:extLst>
              </a:tr>
              <a:tr h="673100">
                <a:tc>
                  <a:txBody>
                    <a:bodyPr/>
                    <a:lstStyle/>
                    <a:p>
                      <a:r>
                        <a:rPr kumimoji="1" lang="ja-JP" altLang="en-US" sz="2000">
                          <a:solidFill>
                            <a:srgbClr val="182228"/>
                          </a:solidFill>
                          <a:latin typeface="Yu Gothic" panose="020B0400000000000000" pitchFamily="50" charset="-128"/>
                          <a:ea typeface="Yu Gothic" panose="020B0400000000000000" pitchFamily="50" charset="-128"/>
                        </a:rPr>
                        <a:t>ソフト証拠あり</a:t>
                      </a: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0.377</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0.694</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tc>
                  <a:txBody>
                    <a:bodyPr/>
                    <a:lstStyle/>
                    <a:p>
                      <a:r>
                        <a:rPr kumimoji="1" lang="en-US" altLang="ja-JP" sz="2000">
                          <a:solidFill>
                            <a:srgbClr val="182228"/>
                          </a:solidFill>
                          <a:latin typeface="Yu Gothic" panose="020B0400000000000000" pitchFamily="50" charset="-128"/>
                          <a:ea typeface="Yu Gothic" panose="020B0400000000000000" pitchFamily="50" charset="-128"/>
                        </a:rPr>
                        <a:t>03</a:t>
                      </a:r>
                      <a:endParaRPr kumimoji="1" lang="ja-JP" altLang="en-US" sz="2000">
                        <a:solidFill>
                          <a:srgbClr val="182228"/>
                        </a:solidFill>
                        <a:latin typeface="Yu Gothic" panose="020B0400000000000000" pitchFamily="50" charset="-128"/>
                        <a:ea typeface="Yu Gothic" panose="020B0400000000000000" pitchFamily="50" charset="-128"/>
                      </a:endParaRPr>
                    </a:p>
                  </a:txBody>
                  <a:tcPr marL="177800" marR="127000" anchor="ctr">
                    <a:solidFill>
                      <a:srgbClr val="F5F5F5"/>
                    </a:solidFill>
                  </a:tcPr>
                </a:tc>
                <a:extLst>
                  <a:ext uri="{0D108BD9-81ED-4DB2-BD59-A6C34878D82A}">
                    <a16:rowId xmlns:a16="http://schemas.microsoft.com/office/drawing/2014/main" val="2198594436"/>
                  </a:ext>
                </a:extLst>
              </a:tr>
            </a:tbl>
          </a:graphicData>
        </a:graphic>
      </p:graphicFrame>
      <p:sp>
        <p:nvSpPr>
          <p:cNvPr id="6" name="テキスト ボックス 5">
            <a:extLst>
              <a:ext uri="{FF2B5EF4-FFF2-40B4-BE49-F238E27FC236}">
                <a16:creationId xmlns:a16="http://schemas.microsoft.com/office/drawing/2014/main" id="{4D15086D-3CC6-A76F-D403-F87DE36FE9E4}"/>
              </a:ext>
            </a:extLst>
          </p:cNvPr>
          <p:cNvSpPr txBox="1"/>
          <p:nvPr/>
        </p:nvSpPr>
        <p:spPr>
          <a:xfrm>
            <a:off x="685800" y="5003800"/>
            <a:ext cx="10795000" cy="446276"/>
          </a:xfrm>
          <a:prstGeom prst="rect">
            <a:avLst/>
          </a:prstGeom>
          <a:noFill/>
        </p:spPr>
        <p:txBody>
          <a:bodyPr vert="horz" wrap="square" lIns="0" tIns="0" rIns="0" bIns="0" rtlCol="0">
            <a:spAutoFit/>
          </a:bodyPr>
          <a:lstStyle/>
          <a:p>
            <a:r>
              <a:rPr kumimoji="1" lang="ja-JP" altLang="en-US" sz="2900" b="1">
                <a:solidFill>
                  <a:srgbClr val="00A080"/>
                </a:solidFill>
                <a:latin typeface="Yu Gothic" panose="020B0400000000000000" pitchFamily="50" charset="-128"/>
                <a:ea typeface="Yu Gothic" panose="020B0400000000000000" pitchFamily="50" charset="-128"/>
              </a:rPr>
              <a:t>実戦勝率・説得効果は未検証</a:t>
            </a:r>
          </a:p>
        </p:txBody>
      </p:sp>
      <p:sp>
        <p:nvSpPr>
          <p:cNvPr id="7" name="テキスト ボックス 6">
            <a:extLst>
              <a:ext uri="{FF2B5EF4-FFF2-40B4-BE49-F238E27FC236}">
                <a16:creationId xmlns:a16="http://schemas.microsoft.com/office/drawing/2014/main" id="{5697A05D-07C2-D636-7D0A-2D89A23EF1B9}"/>
              </a:ext>
            </a:extLst>
          </p:cNvPr>
          <p:cNvSpPr txBox="1"/>
          <p:nvPr/>
        </p:nvSpPr>
        <p:spPr>
          <a:xfrm>
            <a:off x="685800" y="5803900"/>
            <a:ext cx="10820400" cy="307777"/>
          </a:xfrm>
          <a:prstGeom prst="rect">
            <a:avLst/>
          </a:prstGeom>
          <a:noFill/>
        </p:spPr>
        <p:txBody>
          <a:bodyPr vert="horz" wrap="square" lIns="0" tIns="0" rIns="0" bIns="0" rtlCol="0">
            <a:spAutoFit/>
          </a:bodyPr>
          <a:lstStyle/>
          <a:p>
            <a:r>
              <a:rPr kumimoji="1" lang="ja-JP" altLang="en-US" sz="2000">
                <a:solidFill>
                  <a:srgbClr val="182228"/>
                </a:solidFill>
                <a:latin typeface="Yu Gothic" panose="020B0400000000000000" pitchFamily="50" charset="-128"/>
                <a:ea typeface="Yu Gothic" panose="020B0400000000000000" pitchFamily="50" charset="-128"/>
              </a:rPr>
              <a:t>次は実対戦ログで尤度を検証し、推定と行動を別々に評価する</a:t>
            </a:r>
          </a:p>
        </p:txBody>
      </p:sp>
    </p:spTree>
    <p:extLst>
      <p:ext uri="{BB962C8B-B14F-4D97-AF65-F5344CB8AC3E}">
        <p14:creationId xmlns:p14="http://schemas.microsoft.com/office/powerpoint/2010/main" val="5453487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1219</Words>
  <Application>Microsoft Office PowerPoint</Application>
  <PresentationFormat>ユーザー設定</PresentationFormat>
  <Paragraphs>71</Paragraphs>
  <Slides>5</Slides>
  <Notes>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Yu Gothic</vt:lpstr>
      <vt:lpstr>Yu Gothic</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Masaaki Oda</dc:creator>
  <cp:lastModifiedBy>Masaaki Oda</cp:lastModifiedBy>
  <cp:revision>1</cp:revision>
  <dcterms:created xsi:type="dcterms:W3CDTF">2026-09-16T13:26:48Z</dcterms:created>
  <dcterms:modified xsi:type="dcterms:W3CDTF">2026-09-16T13:26:48Z</dcterms:modified>
</cp:coreProperties>
</file>